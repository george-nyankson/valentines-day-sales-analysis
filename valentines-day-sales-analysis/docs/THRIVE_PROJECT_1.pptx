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2" r:id="rId2"/>
    <p:sldId id="276" r:id="rId3"/>
    <p:sldId id="277" r:id="rId4"/>
    <p:sldId id="278" r:id="rId5"/>
    <p:sldId id="273" r:id="rId6"/>
    <p:sldId id="279" r:id="rId7"/>
    <p:sldId id="280" r:id="rId8"/>
    <p:sldId id="281" r:id="rId9"/>
    <p:sldId id="282" r:id="rId10"/>
    <p:sldId id="270" r:id="rId11"/>
    <p:sldId id="266" r:id="rId12"/>
    <p:sldId id="267" r:id="rId13"/>
    <p:sldId id="271"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CF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4" autoAdjust="0"/>
    <p:restoredTop sz="92899" autoAdjust="0"/>
  </p:normalViewPr>
  <p:slideViewPr>
    <p:cSldViewPr snapToGrid="0">
      <p:cViewPr varScale="1">
        <p:scale>
          <a:sx n="70" d="100"/>
          <a:sy n="70" d="100"/>
        </p:scale>
        <p:origin x="96" y="126"/>
      </p:cViewPr>
      <p:guideLst/>
    </p:cSldViewPr>
  </p:slideViewPr>
  <p:outlineViewPr>
    <p:cViewPr>
      <p:scale>
        <a:sx n="33" d="100"/>
        <a:sy n="33" d="100"/>
      </p:scale>
      <p:origin x="0" y="-409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10F4979-B1A2-469B-B897-64C55B8A2C6D}" type="datetimeFigureOut">
              <a:rPr lang="en-US" smtClean="0"/>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C605372-4C81-49A7-8E2A-E06279B71E10}"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0F4979-B1A2-469B-B897-64C55B8A2C6D}" type="datetimeFigureOut">
              <a:rPr lang="en-US" smtClean="0"/>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C605372-4C81-49A7-8E2A-E06279B71E10}"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0F4979-B1A2-469B-B897-64C55B8A2C6D}" type="datetimeFigureOut">
              <a:rPr lang="en-US" smtClean="0"/>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C605372-4C81-49A7-8E2A-E06279B71E10}"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10F4979-B1A2-469B-B897-64C55B8A2C6D}" type="datetimeFigureOut">
              <a:rPr lang="en-US" smtClean="0"/>
              <a:t>10/21/2026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C605372-4C81-49A7-8E2A-E06279B71E10}"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10F4979-B1A2-469B-B897-64C55B8A2C6D}" type="datetimeFigureOut">
              <a:rPr lang="en-US" smtClean="0"/>
              <a:t>10/21/2026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C605372-4C81-49A7-8E2A-E06279B71E10}"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10F4979-B1A2-469B-B897-64C55B8A2C6D}" type="datetimeFigureOut">
              <a:rPr lang="en-US" smtClean="0"/>
              <a:t>10/21/2026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C605372-4C81-49A7-8E2A-E06279B71E10}"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0F4979-B1A2-469B-B897-64C55B8A2C6D}" type="datetimeFigureOut">
              <a:rPr lang="en-US" smtClean="0"/>
              <a:t>10/21/2026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C605372-4C81-49A7-8E2A-E06279B71E10}"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10F4979-B1A2-469B-B897-64C55B8A2C6D}" type="datetimeFigureOut">
              <a:rPr lang="en-US" smtClean="0"/>
              <a:t>10/21/2026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C605372-4C81-49A7-8E2A-E06279B71E10}"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10F4979-B1A2-469B-B897-64C55B8A2C6D}" type="datetimeFigureOut">
              <a:rPr lang="en-US" smtClean="0"/>
              <a:t>10/21/2026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C605372-4C81-49A7-8E2A-E06279B71E10}"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0F4979-B1A2-469B-B897-64C55B8A2C6D}" type="datetimeFigureOut">
              <a:rPr lang="en-US" smtClean="0"/>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C605372-4C81-49A7-8E2A-E06279B71E10}"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0F4979-B1A2-469B-B897-64C55B8A2C6D}" type="datetimeFigureOut">
              <a:rPr lang="en-US" smtClean="0"/>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C605372-4C81-49A7-8E2A-E06279B71E10}"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0F4979-B1A2-469B-B897-64C55B8A2C6D}" type="datetimeFigureOut">
              <a:rPr lang="en-US" smtClean="0"/>
              <a:t>10/21/2026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605372-4C81-49A7-8E2A-E06279B71E1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7760" y="365125"/>
            <a:ext cx="6963294" cy="2591435"/>
          </a:xfrm>
        </p:spPr>
        <p:txBody>
          <a:bodyPr>
            <a:normAutofit/>
          </a:bodyPr>
          <a:lstStyle/>
          <a:p>
            <a:pPr algn="ctr"/>
            <a:r>
              <a:rPr lang="en-US" b="1" dirty="0">
                <a:solidFill>
                  <a:srgbClr val="1D1D1B"/>
                </a:solidFill>
                <a:latin typeface="Tomorrow Semi Bold" pitchFamily="34" charset="0"/>
                <a:ea typeface="Tomorrow Semi Bold" pitchFamily="34" charset="-122"/>
                <a:cs typeface="Tomorrow Semi Bold" pitchFamily="34" charset="-120"/>
              </a:rPr>
              <a:t>Data Science &amp; Analytics </a:t>
            </a:r>
            <a:r>
              <a:rPr lang="en-US" b="1" dirty="0" smtClean="0">
                <a:solidFill>
                  <a:srgbClr val="1D1D1B"/>
                </a:solidFill>
                <a:latin typeface="Tomorrow Semi Bold" pitchFamily="34" charset="0"/>
                <a:ea typeface="Tomorrow Semi Bold" pitchFamily="34" charset="-122"/>
                <a:cs typeface="Tomorrow Semi Bold" pitchFamily="34" charset="-120"/>
              </a:rPr>
              <a:t>Project</a:t>
            </a:r>
            <a:br>
              <a:rPr lang="en-US" b="1" dirty="0" smtClean="0">
                <a:solidFill>
                  <a:srgbClr val="1D1D1B"/>
                </a:solidFill>
                <a:latin typeface="Tomorrow Semi Bold" pitchFamily="34" charset="0"/>
                <a:ea typeface="Tomorrow Semi Bold" pitchFamily="34" charset="-122"/>
                <a:cs typeface="Tomorrow Semi Bold" pitchFamily="34" charset="-120"/>
              </a:rPr>
            </a:br>
            <a:r>
              <a:rPr lang="en-US" b="1" dirty="0" smtClean="0">
                <a:solidFill>
                  <a:srgbClr val="1D1D1B"/>
                </a:solidFill>
                <a:latin typeface="Tomorrow Semi Bold" pitchFamily="34" charset="0"/>
                <a:ea typeface="Tomorrow Semi Bold" pitchFamily="34" charset="-122"/>
                <a:cs typeface="Tomorrow Semi Bold" pitchFamily="34" charset="-120"/>
              </a:rPr>
              <a:t>2025</a:t>
            </a:r>
            <a:endParaRPr lang="en-GB" b="1" dirty="0"/>
          </a:p>
        </p:txBody>
      </p:sp>
      <p:pic>
        <p:nvPicPr>
          <p:cNvPr id="4" name="Image 0" descr="preencoded.png"/>
          <p:cNvPicPr>
            <a:picLocks noGrp="1" noChangeAspect="1"/>
          </p:cNvPicPr>
          <p:nvPr>
            <p:ph idx="1"/>
          </p:nvPr>
        </p:nvPicPr>
        <p:blipFill>
          <a:blip r:embed="rId2"/>
          <a:stretch>
            <a:fillRect/>
          </a:stretch>
        </p:blipFill>
        <p:spPr>
          <a:xfrm>
            <a:off x="0" y="0"/>
            <a:ext cx="5025775" cy="6858000"/>
          </a:xfrm>
          <a:prstGeom prst="rect">
            <a:avLst/>
          </a:prstGeom>
        </p:spPr>
      </p:pic>
      <p:sp>
        <p:nvSpPr>
          <p:cNvPr id="7" name="Rectangle 6"/>
          <p:cNvSpPr/>
          <p:nvPr/>
        </p:nvSpPr>
        <p:spPr>
          <a:xfrm>
            <a:off x="6369626" y="3474079"/>
            <a:ext cx="4712271" cy="427361"/>
          </a:xfrm>
          <a:prstGeom prst="rect">
            <a:avLst/>
          </a:prstGeom>
        </p:spPr>
        <p:txBody>
          <a:bodyPr wrap="square">
            <a:spAutoFit/>
          </a:bodyPr>
          <a:lstStyle/>
          <a:p>
            <a:pPr>
              <a:lnSpc>
                <a:spcPts val="2750"/>
              </a:lnSpc>
            </a:pPr>
            <a:r>
              <a:rPr lang="en-US" sz="2000" b="1" dirty="0" smtClean="0">
                <a:solidFill>
                  <a:srgbClr val="1D1D1B"/>
                </a:solidFill>
                <a:latin typeface="Tomorrow Semi Bold" pitchFamily="34" charset="0"/>
                <a:ea typeface="Tomorrow Semi Bold" pitchFamily="34" charset="-122"/>
                <a:cs typeface="Tomorrow Semi Bold" pitchFamily="34" charset="-120"/>
              </a:rPr>
              <a:t>Valentine's </a:t>
            </a:r>
            <a:r>
              <a:rPr lang="en-US" sz="2000" b="1" dirty="0">
                <a:solidFill>
                  <a:srgbClr val="1D1D1B"/>
                </a:solidFill>
                <a:latin typeface="Tomorrow Semi Bold" pitchFamily="34" charset="0"/>
                <a:ea typeface="Tomorrow Semi Bold" pitchFamily="34" charset="-122"/>
                <a:cs typeface="Tomorrow Semi Bold" pitchFamily="34" charset="-120"/>
              </a:rPr>
              <a:t>Dataset Analysis</a:t>
            </a:r>
            <a:endParaRPr lang="en-US" sz="2000" b="1" dirty="0"/>
          </a:p>
        </p:txBody>
      </p:sp>
      <p:sp>
        <p:nvSpPr>
          <p:cNvPr id="8" name="Rectangle 7"/>
          <p:cNvSpPr/>
          <p:nvPr/>
        </p:nvSpPr>
        <p:spPr>
          <a:xfrm>
            <a:off x="5495544" y="5100788"/>
            <a:ext cx="6096000" cy="1208023"/>
          </a:xfrm>
          <a:prstGeom prst="rect">
            <a:avLst/>
          </a:prstGeom>
        </p:spPr>
        <p:txBody>
          <a:bodyPr>
            <a:spAutoFit/>
          </a:bodyPr>
          <a:lstStyle/>
          <a:p>
            <a:pPr algn="ctr">
              <a:lnSpc>
                <a:spcPts val="2850"/>
              </a:lnSpc>
            </a:pPr>
            <a:r>
              <a:rPr lang="en-US" b="1" dirty="0">
                <a:solidFill>
                  <a:srgbClr val="61615C"/>
                </a:solidFill>
                <a:latin typeface="Tomorrow" pitchFamily="34" charset="0"/>
                <a:ea typeface="Tomorrow" pitchFamily="34" charset="-122"/>
                <a:cs typeface="Tomorrow" pitchFamily="34" charset="-120"/>
              </a:rPr>
              <a:t>A comprehensive exploration of Valentine's Day sales patterns, customer behavior, and revenue optimization </a:t>
            </a:r>
            <a:r>
              <a:rPr lang="en-US" b="1" dirty="0" smtClean="0">
                <a:solidFill>
                  <a:srgbClr val="61615C"/>
                </a:solidFill>
                <a:latin typeface="Tomorrow" pitchFamily="34" charset="0"/>
                <a:ea typeface="Tomorrow" pitchFamily="34" charset="-122"/>
                <a:cs typeface="Tomorrow" pitchFamily="34" charset="-120"/>
              </a:rPr>
              <a:t>strategies in 2023</a:t>
            </a:r>
            <a:endParaRPr lang="en-US"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0278" y="365126"/>
            <a:ext cx="10333522" cy="580648"/>
          </a:xfrm>
        </p:spPr>
        <p:txBody>
          <a:bodyPr>
            <a:normAutofit fontScale="90000"/>
          </a:bodyPr>
          <a:lstStyle/>
          <a:p>
            <a:r>
              <a:rPr lang="en-US" dirty="0">
                <a:solidFill>
                  <a:srgbClr val="1D1D1B"/>
                </a:solidFill>
                <a:latin typeface="Tomorrow Semi Bold" pitchFamily="34" charset="0"/>
                <a:ea typeface="Tomorrow Semi Bold" pitchFamily="34" charset="-122"/>
                <a:cs typeface="Tomorrow Semi Bold" pitchFamily="34" charset="-120"/>
              </a:rPr>
              <a:t>Presentation </a:t>
            </a:r>
            <a:r>
              <a:rPr lang="en-US" dirty="0" smtClean="0">
                <a:solidFill>
                  <a:srgbClr val="1D1D1B"/>
                </a:solidFill>
                <a:latin typeface="Tomorrow Semi Bold" pitchFamily="34" charset="0"/>
                <a:ea typeface="Tomorrow Semi Bold" pitchFamily="34" charset="-122"/>
                <a:cs typeface="Tomorrow Semi Bold" pitchFamily="34" charset="-120"/>
              </a:rPr>
              <a:t>Roadmap</a:t>
            </a:r>
            <a:endParaRPr lang="en-GB" dirty="0"/>
          </a:p>
        </p:txBody>
      </p:sp>
      <p:sp>
        <p:nvSpPr>
          <p:cNvPr id="3" name="Content Placeholder 2"/>
          <p:cNvSpPr>
            <a:spLocks noGrp="1"/>
          </p:cNvSpPr>
          <p:nvPr>
            <p:ph idx="1"/>
          </p:nvPr>
        </p:nvSpPr>
        <p:spPr>
          <a:xfrm>
            <a:off x="259080" y="1751230"/>
            <a:ext cx="11932920" cy="4351338"/>
          </a:xfrm>
        </p:spPr>
        <p:txBody>
          <a:bodyPr/>
          <a:lstStyle/>
          <a:p>
            <a:pPr marL="0" indent="0">
              <a:buNone/>
            </a:pPr>
            <a:r>
              <a:rPr lang="en-US" b="1" dirty="0" smtClean="0">
                <a:solidFill>
                  <a:srgbClr val="61615C"/>
                </a:solidFill>
                <a:latin typeface="Tomorrow Semi Bold" pitchFamily="34" charset="0"/>
                <a:ea typeface="Tomorrow Semi Bold" pitchFamily="34" charset="-122"/>
                <a:cs typeface="Tomorrow Semi Bold" pitchFamily="34" charset="-120"/>
              </a:rPr>
              <a:t>Project Overview</a:t>
            </a:r>
            <a:endParaRPr lang="en-US" b="1" dirty="0" smtClean="0"/>
          </a:p>
        </p:txBody>
      </p:sp>
      <p:sp>
        <p:nvSpPr>
          <p:cNvPr id="13" name="Text 16"/>
          <p:cNvSpPr/>
          <p:nvPr/>
        </p:nvSpPr>
        <p:spPr>
          <a:xfrm>
            <a:off x="386087" y="5108879"/>
            <a:ext cx="5397969" cy="706113"/>
          </a:xfrm>
          <a:prstGeom prst="rect">
            <a:avLst/>
          </a:prstGeom>
          <a:noFill/>
        </p:spPr>
        <p:txBody>
          <a:bodyPr wrap="none" lIns="0" tIns="0" rIns="0" bIns="0" rtlCol="0" anchor="t"/>
          <a:lstStyle/>
          <a:p>
            <a:pPr marL="0" indent="0" algn="l">
              <a:lnSpc>
                <a:spcPts val="2850"/>
              </a:lnSpc>
              <a:buNone/>
            </a:pPr>
            <a:r>
              <a:rPr lang="en-US" sz="1750" dirty="0">
                <a:solidFill>
                  <a:srgbClr val="61615C"/>
                </a:solidFill>
                <a:latin typeface="Tomorrow" pitchFamily="34" charset="0"/>
                <a:ea typeface="Tomorrow" pitchFamily="34" charset="-122"/>
                <a:cs typeface="Tomorrow" pitchFamily="34" charset="-120"/>
              </a:rPr>
              <a:t>Ensuring data quality through rigorous preprocessing</a:t>
            </a:r>
            <a:endParaRPr lang="en-US" sz="1750" dirty="0"/>
          </a:p>
        </p:txBody>
      </p:sp>
      <p:sp>
        <p:nvSpPr>
          <p:cNvPr id="14" name="Text 15"/>
          <p:cNvSpPr/>
          <p:nvPr/>
        </p:nvSpPr>
        <p:spPr>
          <a:xfrm>
            <a:off x="386087" y="4607583"/>
            <a:ext cx="3964424" cy="354330"/>
          </a:xfrm>
          <a:prstGeom prst="rect">
            <a:avLst/>
          </a:prstGeom>
          <a:noFill/>
        </p:spPr>
        <p:txBody>
          <a:bodyPr wrap="none" lIns="0" tIns="0" rIns="0" bIns="0" rtlCol="0" anchor="t"/>
          <a:lstStyle/>
          <a:p>
            <a:pPr marL="0" indent="0" algn="l">
              <a:lnSpc>
                <a:spcPts val="2750"/>
              </a:lnSpc>
              <a:buNone/>
            </a:pPr>
            <a:r>
              <a:rPr lang="en-US" sz="2800" b="1" dirty="0">
                <a:solidFill>
                  <a:srgbClr val="61615C"/>
                </a:solidFill>
                <a:latin typeface="Tomorrow Semi Bold" pitchFamily="34" charset="0"/>
                <a:ea typeface="Tomorrow Semi Bold" pitchFamily="34" charset="-122"/>
                <a:cs typeface="Tomorrow Semi Bold" pitchFamily="34" charset="-120"/>
              </a:rPr>
              <a:t>Data Cleaning &amp; </a:t>
            </a:r>
            <a:r>
              <a:rPr lang="en-US" sz="2800" b="1" dirty="0" smtClean="0">
                <a:solidFill>
                  <a:srgbClr val="61615C"/>
                </a:solidFill>
                <a:latin typeface="Tomorrow Semi Bold" pitchFamily="34" charset="0"/>
                <a:ea typeface="Tomorrow Semi Bold" pitchFamily="34" charset="-122"/>
                <a:cs typeface="Tomorrow Semi Bold" pitchFamily="34" charset="-120"/>
              </a:rPr>
              <a:t>Preprocessing</a:t>
            </a:r>
            <a:endParaRPr lang="en-US" sz="2800" b="1" dirty="0"/>
          </a:p>
        </p:txBody>
      </p:sp>
      <p:sp>
        <p:nvSpPr>
          <p:cNvPr id="15" name="Shape 14"/>
          <p:cNvSpPr/>
          <p:nvPr/>
        </p:nvSpPr>
        <p:spPr>
          <a:xfrm flipV="1">
            <a:off x="386087" y="4278376"/>
            <a:ext cx="5258500" cy="45719"/>
          </a:xfrm>
          <a:prstGeom prst="rect">
            <a:avLst/>
          </a:prstGeom>
          <a:solidFill>
            <a:srgbClr val="1D1D1B"/>
          </a:solidFill>
        </p:spPr>
      </p:sp>
      <p:sp>
        <p:nvSpPr>
          <p:cNvPr id="16" name="Text 13"/>
          <p:cNvSpPr/>
          <p:nvPr/>
        </p:nvSpPr>
        <p:spPr>
          <a:xfrm>
            <a:off x="2703965" y="3954354"/>
            <a:ext cx="226814" cy="283488"/>
          </a:xfrm>
          <a:prstGeom prst="rect">
            <a:avLst/>
          </a:prstGeom>
          <a:noFill/>
        </p:spPr>
        <p:txBody>
          <a:bodyPr wrap="none" lIns="0" tIns="0" rIns="0" bIns="0" rtlCol="0" anchor="t"/>
          <a:lstStyle/>
          <a:p>
            <a:pPr marL="0" indent="0" algn="l">
              <a:lnSpc>
                <a:spcPts val="2850"/>
              </a:lnSpc>
              <a:buNone/>
            </a:pPr>
            <a:r>
              <a:rPr lang="en-US" sz="1750" dirty="0">
                <a:solidFill>
                  <a:srgbClr val="61615C"/>
                </a:solidFill>
                <a:latin typeface="Tomorrow Light" pitchFamily="34" charset="0"/>
                <a:ea typeface="Tomorrow Light" pitchFamily="34" charset="-122"/>
                <a:cs typeface="Tomorrow Light" pitchFamily="34" charset="-120"/>
              </a:rPr>
              <a:t>04</a:t>
            </a:r>
            <a:endParaRPr lang="en-US" sz="1750" dirty="0"/>
          </a:p>
        </p:txBody>
      </p:sp>
      <p:sp>
        <p:nvSpPr>
          <p:cNvPr id="17" name="Shape 14"/>
          <p:cNvSpPr/>
          <p:nvPr/>
        </p:nvSpPr>
        <p:spPr>
          <a:xfrm>
            <a:off x="4769422" y="1644151"/>
            <a:ext cx="3101364" cy="46118"/>
          </a:xfrm>
          <a:prstGeom prst="rect">
            <a:avLst/>
          </a:prstGeom>
          <a:solidFill>
            <a:srgbClr val="1D1D1B"/>
          </a:solidFill>
        </p:spPr>
      </p:sp>
      <p:sp>
        <p:nvSpPr>
          <p:cNvPr id="18" name="Shape 14"/>
          <p:cNvSpPr/>
          <p:nvPr/>
        </p:nvSpPr>
        <p:spPr>
          <a:xfrm flipV="1">
            <a:off x="8564581" y="1624442"/>
            <a:ext cx="2963804" cy="45719"/>
          </a:xfrm>
          <a:prstGeom prst="rect">
            <a:avLst/>
          </a:prstGeom>
          <a:solidFill>
            <a:srgbClr val="1D1D1B"/>
          </a:solidFill>
        </p:spPr>
      </p:sp>
      <p:sp>
        <p:nvSpPr>
          <p:cNvPr id="19" name="Shape 14"/>
          <p:cNvSpPr/>
          <p:nvPr/>
        </p:nvSpPr>
        <p:spPr>
          <a:xfrm>
            <a:off x="6956385" y="4278375"/>
            <a:ext cx="3923818" cy="45719"/>
          </a:xfrm>
          <a:prstGeom prst="rect">
            <a:avLst/>
          </a:prstGeom>
          <a:solidFill>
            <a:srgbClr val="1D1D1B"/>
          </a:solidFill>
        </p:spPr>
      </p:sp>
      <p:sp>
        <p:nvSpPr>
          <p:cNvPr id="20" name="Shape 14"/>
          <p:cNvSpPr/>
          <p:nvPr/>
        </p:nvSpPr>
        <p:spPr>
          <a:xfrm flipV="1">
            <a:off x="386087" y="1624442"/>
            <a:ext cx="2808526" cy="45719"/>
          </a:xfrm>
          <a:prstGeom prst="rect">
            <a:avLst/>
          </a:prstGeom>
          <a:solidFill>
            <a:srgbClr val="1D1D1B"/>
          </a:solidFill>
        </p:spPr>
      </p:sp>
      <p:sp>
        <p:nvSpPr>
          <p:cNvPr id="21" name="Text 5"/>
          <p:cNvSpPr/>
          <p:nvPr/>
        </p:nvSpPr>
        <p:spPr>
          <a:xfrm>
            <a:off x="6125976" y="1279594"/>
            <a:ext cx="226814" cy="283488"/>
          </a:xfrm>
          <a:prstGeom prst="rect">
            <a:avLst/>
          </a:prstGeom>
          <a:noFill/>
        </p:spPr>
        <p:txBody>
          <a:bodyPr wrap="none" lIns="0" tIns="0" rIns="0" bIns="0" rtlCol="0" anchor="t"/>
          <a:lstStyle/>
          <a:p>
            <a:pPr marL="0" indent="0" algn="l">
              <a:lnSpc>
                <a:spcPts val="2850"/>
              </a:lnSpc>
              <a:buNone/>
            </a:pPr>
            <a:r>
              <a:rPr lang="en-US" sz="1750" dirty="0">
                <a:solidFill>
                  <a:srgbClr val="61615C"/>
                </a:solidFill>
                <a:latin typeface="Tomorrow Light" pitchFamily="34" charset="0"/>
                <a:ea typeface="Tomorrow Light" pitchFamily="34" charset="-122"/>
                <a:cs typeface="Tomorrow Light" pitchFamily="34" charset="-120"/>
              </a:rPr>
              <a:t>02</a:t>
            </a:r>
            <a:endParaRPr lang="en-US" sz="1750" dirty="0"/>
          </a:p>
        </p:txBody>
      </p:sp>
      <p:sp>
        <p:nvSpPr>
          <p:cNvPr id="22" name="Text 9"/>
          <p:cNvSpPr/>
          <p:nvPr/>
        </p:nvSpPr>
        <p:spPr>
          <a:xfrm>
            <a:off x="9901080" y="1287625"/>
            <a:ext cx="507700" cy="275457"/>
          </a:xfrm>
          <a:prstGeom prst="rect">
            <a:avLst/>
          </a:prstGeom>
          <a:noFill/>
        </p:spPr>
        <p:txBody>
          <a:bodyPr wrap="none" lIns="0" tIns="0" rIns="0" bIns="0" rtlCol="0" anchor="t"/>
          <a:lstStyle/>
          <a:p>
            <a:pPr marL="0" indent="0" algn="l">
              <a:lnSpc>
                <a:spcPts val="2850"/>
              </a:lnSpc>
              <a:buNone/>
            </a:pPr>
            <a:r>
              <a:rPr lang="en-US" sz="1750" dirty="0">
                <a:solidFill>
                  <a:srgbClr val="61615C"/>
                </a:solidFill>
                <a:latin typeface="Tomorrow Light" pitchFamily="34" charset="0"/>
                <a:ea typeface="Tomorrow Light" pitchFamily="34" charset="-122"/>
                <a:cs typeface="Tomorrow Light" pitchFamily="34" charset="-120"/>
              </a:rPr>
              <a:t>03</a:t>
            </a:r>
            <a:endParaRPr lang="en-US" sz="1750" dirty="0"/>
          </a:p>
        </p:txBody>
      </p:sp>
      <p:sp>
        <p:nvSpPr>
          <p:cNvPr id="23" name="Text 1"/>
          <p:cNvSpPr/>
          <p:nvPr/>
        </p:nvSpPr>
        <p:spPr>
          <a:xfrm>
            <a:off x="1563536" y="1283944"/>
            <a:ext cx="226814" cy="283488"/>
          </a:xfrm>
          <a:prstGeom prst="rect">
            <a:avLst/>
          </a:prstGeom>
          <a:noFill/>
        </p:spPr>
        <p:txBody>
          <a:bodyPr wrap="none" lIns="0" tIns="0" rIns="0" bIns="0" rtlCol="0" anchor="t"/>
          <a:lstStyle/>
          <a:p>
            <a:pPr marL="0" indent="0" algn="l">
              <a:lnSpc>
                <a:spcPts val="2850"/>
              </a:lnSpc>
              <a:buNone/>
            </a:pPr>
            <a:r>
              <a:rPr lang="en-US" sz="1750" dirty="0">
                <a:solidFill>
                  <a:srgbClr val="61615C"/>
                </a:solidFill>
                <a:latin typeface="Tomorrow Light" pitchFamily="34" charset="0"/>
                <a:ea typeface="Tomorrow Light" pitchFamily="34" charset="-122"/>
                <a:cs typeface="Tomorrow Light" pitchFamily="34" charset="-120"/>
              </a:rPr>
              <a:t>01</a:t>
            </a:r>
            <a:endParaRPr lang="en-US" sz="1750" dirty="0"/>
          </a:p>
        </p:txBody>
      </p:sp>
      <p:sp>
        <p:nvSpPr>
          <p:cNvPr id="24" name="Text 17"/>
          <p:cNvSpPr/>
          <p:nvPr/>
        </p:nvSpPr>
        <p:spPr>
          <a:xfrm flipH="1">
            <a:off x="8743321" y="3954196"/>
            <a:ext cx="349945" cy="390467"/>
          </a:xfrm>
          <a:prstGeom prst="rect">
            <a:avLst/>
          </a:prstGeom>
          <a:noFill/>
        </p:spPr>
        <p:txBody>
          <a:bodyPr wrap="none" lIns="0" tIns="0" rIns="0" bIns="0" rtlCol="0" anchor="t"/>
          <a:lstStyle/>
          <a:p>
            <a:pPr marL="0" indent="0" algn="l">
              <a:lnSpc>
                <a:spcPts val="2850"/>
              </a:lnSpc>
              <a:buNone/>
            </a:pPr>
            <a:r>
              <a:rPr lang="en-US" sz="1750" dirty="0">
                <a:solidFill>
                  <a:srgbClr val="61615C"/>
                </a:solidFill>
                <a:latin typeface="Tomorrow Light" pitchFamily="34" charset="0"/>
                <a:ea typeface="Tomorrow Light" pitchFamily="34" charset="-122"/>
                <a:cs typeface="Tomorrow Light" pitchFamily="34" charset="-120"/>
              </a:rPr>
              <a:t>05</a:t>
            </a:r>
            <a:endParaRPr lang="en-US" sz="1750" dirty="0"/>
          </a:p>
        </p:txBody>
      </p:sp>
      <p:sp>
        <p:nvSpPr>
          <p:cNvPr id="25" name="Text 11"/>
          <p:cNvSpPr/>
          <p:nvPr/>
        </p:nvSpPr>
        <p:spPr>
          <a:xfrm>
            <a:off x="8564582" y="1789849"/>
            <a:ext cx="3276319" cy="340650"/>
          </a:xfrm>
          <a:prstGeom prst="rect">
            <a:avLst/>
          </a:prstGeom>
          <a:noFill/>
        </p:spPr>
        <p:txBody>
          <a:bodyPr wrap="none" lIns="0" tIns="0" rIns="0" bIns="0" rtlCol="0" anchor="t"/>
          <a:lstStyle/>
          <a:p>
            <a:pPr marL="0" indent="0" algn="l">
              <a:lnSpc>
                <a:spcPts val="2750"/>
              </a:lnSpc>
              <a:buNone/>
            </a:pPr>
            <a:r>
              <a:rPr lang="en-US" sz="2800" b="1" dirty="0" smtClean="0">
                <a:solidFill>
                  <a:srgbClr val="61615C"/>
                </a:solidFill>
                <a:latin typeface="Tomorrow Semi Bold" pitchFamily="34" charset="0"/>
                <a:ea typeface="Tomorrow Semi Bold" pitchFamily="34" charset="-122"/>
                <a:cs typeface="Tomorrow Semi Bold" pitchFamily="34" charset="-120"/>
              </a:rPr>
              <a:t>Dataset </a:t>
            </a:r>
            <a:r>
              <a:rPr lang="en-US" sz="2800" b="1" dirty="0">
                <a:solidFill>
                  <a:srgbClr val="61615C"/>
                </a:solidFill>
                <a:latin typeface="Tomorrow Semi Bold" pitchFamily="34" charset="0"/>
                <a:ea typeface="Tomorrow Semi Bold" pitchFamily="34" charset="-122"/>
                <a:cs typeface="Tomorrow Semi Bold" pitchFamily="34" charset="-120"/>
              </a:rPr>
              <a:t>Overview</a:t>
            </a:r>
            <a:endParaRPr lang="en-US" sz="2800" b="1" dirty="0"/>
          </a:p>
        </p:txBody>
      </p:sp>
      <p:sp>
        <p:nvSpPr>
          <p:cNvPr id="26" name="Text 12"/>
          <p:cNvSpPr/>
          <p:nvPr/>
        </p:nvSpPr>
        <p:spPr>
          <a:xfrm>
            <a:off x="8564582" y="2205140"/>
            <a:ext cx="3438402" cy="1146763"/>
          </a:xfrm>
          <a:prstGeom prst="rect">
            <a:avLst/>
          </a:prstGeom>
          <a:noFill/>
        </p:spPr>
        <p:txBody>
          <a:bodyPr wrap="square" lIns="0" tIns="0" rIns="0" bIns="0" rtlCol="0" anchor="t"/>
          <a:lstStyle/>
          <a:p>
            <a:pPr marL="0" indent="0" algn="l">
              <a:lnSpc>
                <a:spcPts val="2850"/>
              </a:lnSpc>
              <a:buNone/>
            </a:pPr>
            <a:r>
              <a:rPr lang="en-US" sz="1750" dirty="0">
                <a:solidFill>
                  <a:srgbClr val="61615C"/>
                </a:solidFill>
                <a:latin typeface="Tomorrow" pitchFamily="34" charset="0"/>
                <a:ea typeface="Tomorrow" pitchFamily="34" charset="-122"/>
                <a:cs typeface="Tomorrow" pitchFamily="34" charset="-120"/>
              </a:rPr>
              <a:t>Exploring the comprehensive sales data from Kaggle</a:t>
            </a:r>
            <a:endParaRPr lang="en-US" sz="1750" dirty="0"/>
          </a:p>
        </p:txBody>
      </p:sp>
      <p:sp>
        <p:nvSpPr>
          <p:cNvPr id="27" name="Text 7"/>
          <p:cNvSpPr/>
          <p:nvPr/>
        </p:nvSpPr>
        <p:spPr>
          <a:xfrm>
            <a:off x="4769421" y="1776169"/>
            <a:ext cx="2835235" cy="354330"/>
          </a:xfrm>
          <a:prstGeom prst="rect">
            <a:avLst/>
          </a:prstGeom>
          <a:noFill/>
        </p:spPr>
        <p:txBody>
          <a:bodyPr wrap="none" lIns="0" tIns="0" rIns="0" bIns="0" rtlCol="0" anchor="t"/>
          <a:lstStyle/>
          <a:p>
            <a:pPr marL="0" indent="0" algn="l">
              <a:lnSpc>
                <a:spcPts val="2750"/>
              </a:lnSpc>
              <a:buNone/>
            </a:pPr>
            <a:r>
              <a:rPr lang="en-US" sz="2800" b="1" dirty="0">
                <a:solidFill>
                  <a:srgbClr val="61615C"/>
                </a:solidFill>
                <a:latin typeface="Tomorrow Semi Bold" pitchFamily="34" charset="0"/>
                <a:ea typeface="Tomorrow Semi Bold" pitchFamily="34" charset="-122"/>
                <a:cs typeface="Tomorrow Semi Bold" pitchFamily="34" charset="-120"/>
              </a:rPr>
              <a:t>Problem Statement</a:t>
            </a:r>
            <a:endParaRPr lang="en-US" sz="2800" b="1" dirty="0"/>
          </a:p>
        </p:txBody>
      </p:sp>
      <p:sp>
        <p:nvSpPr>
          <p:cNvPr id="28" name="Text 8"/>
          <p:cNvSpPr/>
          <p:nvPr/>
        </p:nvSpPr>
        <p:spPr>
          <a:xfrm>
            <a:off x="4918579" y="2261459"/>
            <a:ext cx="2743387" cy="1008317"/>
          </a:xfrm>
          <a:prstGeom prst="rect">
            <a:avLst/>
          </a:prstGeom>
          <a:noFill/>
        </p:spPr>
        <p:txBody>
          <a:bodyPr wrap="square" lIns="0" tIns="0" rIns="0" bIns="0" rtlCol="0" anchor="t"/>
          <a:lstStyle/>
          <a:p>
            <a:pPr marL="0" indent="0" algn="l">
              <a:lnSpc>
                <a:spcPts val="2850"/>
              </a:lnSpc>
              <a:buNone/>
            </a:pPr>
            <a:r>
              <a:rPr lang="en-US" sz="1750" dirty="0">
                <a:solidFill>
                  <a:srgbClr val="61615C"/>
                </a:solidFill>
                <a:latin typeface="Tomorrow" pitchFamily="34" charset="0"/>
                <a:ea typeface="Tomorrow" pitchFamily="34" charset="-122"/>
                <a:cs typeface="Tomorrow" pitchFamily="34" charset="-120"/>
              </a:rPr>
              <a:t>Identifying critical business challenges and knowledge gaps</a:t>
            </a:r>
            <a:endParaRPr lang="en-US" sz="1750" dirty="0"/>
          </a:p>
        </p:txBody>
      </p:sp>
      <p:sp>
        <p:nvSpPr>
          <p:cNvPr id="29" name="Text 20"/>
          <p:cNvSpPr/>
          <p:nvPr/>
        </p:nvSpPr>
        <p:spPr>
          <a:xfrm>
            <a:off x="6956385" y="5101971"/>
            <a:ext cx="5381261" cy="545507"/>
          </a:xfrm>
          <a:prstGeom prst="rect">
            <a:avLst/>
          </a:prstGeom>
          <a:noFill/>
        </p:spPr>
        <p:txBody>
          <a:bodyPr wrap="square" lIns="0" tIns="0" rIns="0" bIns="0" rtlCol="0" anchor="t"/>
          <a:lstStyle/>
          <a:p>
            <a:pPr marL="0" indent="0" algn="l">
              <a:lnSpc>
                <a:spcPts val="2850"/>
              </a:lnSpc>
              <a:buNone/>
            </a:pPr>
            <a:r>
              <a:rPr lang="en-US" sz="1750" dirty="0">
                <a:solidFill>
                  <a:srgbClr val="61615C"/>
                </a:solidFill>
                <a:latin typeface="Tomorrow" pitchFamily="34" charset="0"/>
                <a:ea typeface="Tomorrow" pitchFamily="34" charset="-122"/>
                <a:cs typeface="Tomorrow" pitchFamily="34" charset="-120"/>
              </a:rPr>
              <a:t>Visualizing patterns and deriving actionable recommendations</a:t>
            </a:r>
            <a:endParaRPr lang="en-US" sz="1750" dirty="0"/>
          </a:p>
        </p:txBody>
      </p:sp>
      <p:sp>
        <p:nvSpPr>
          <p:cNvPr id="30" name="Text 4"/>
          <p:cNvSpPr/>
          <p:nvPr/>
        </p:nvSpPr>
        <p:spPr>
          <a:xfrm>
            <a:off x="386087" y="2263195"/>
            <a:ext cx="4196358" cy="1088708"/>
          </a:xfrm>
          <a:prstGeom prst="rect">
            <a:avLst/>
          </a:prstGeom>
          <a:noFill/>
        </p:spPr>
        <p:txBody>
          <a:bodyPr wrap="square" lIns="0" tIns="0" rIns="0" bIns="0" rtlCol="0" anchor="t"/>
          <a:lstStyle/>
          <a:p>
            <a:pPr marL="0" indent="0" algn="l">
              <a:lnSpc>
                <a:spcPts val="2850"/>
              </a:lnSpc>
              <a:buNone/>
            </a:pPr>
            <a:r>
              <a:rPr lang="en-US" sz="1750" dirty="0">
                <a:solidFill>
                  <a:srgbClr val="61615C"/>
                </a:solidFill>
                <a:latin typeface="Tomorrow" pitchFamily="34" charset="0"/>
                <a:ea typeface="Tomorrow" pitchFamily="34" charset="-122"/>
                <a:cs typeface="Tomorrow" pitchFamily="34" charset="-120"/>
              </a:rPr>
              <a:t>Understanding the scope and objectives of our Valentine's Day sales analysis</a:t>
            </a:r>
            <a:endParaRPr lang="en-US" sz="1750" dirty="0"/>
          </a:p>
        </p:txBody>
      </p:sp>
      <p:sp>
        <p:nvSpPr>
          <p:cNvPr id="31" name="Text 11"/>
          <p:cNvSpPr/>
          <p:nvPr/>
        </p:nvSpPr>
        <p:spPr>
          <a:xfrm>
            <a:off x="6956384" y="4604520"/>
            <a:ext cx="4155311" cy="309303"/>
          </a:xfrm>
          <a:prstGeom prst="rect">
            <a:avLst/>
          </a:prstGeom>
          <a:noFill/>
        </p:spPr>
        <p:txBody>
          <a:bodyPr wrap="none" lIns="0" tIns="0" rIns="0" bIns="0" rtlCol="0" anchor="t"/>
          <a:lstStyle/>
          <a:p>
            <a:pPr marL="0" indent="0" algn="l">
              <a:lnSpc>
                <a:spcPts val="2750"/>
              </a:lnSpc>
              <a:buNone/>
            </a:pPr>
            <a:r>
              <a:rPr lang="en-US" sz="2800" b="1" dirty="0" smtClean="0">
                <a:solidFill>
                  <a:srgbClr val="61615C"/>
                </a:solidFill>
                <a:latin typeface="Tomorrow Semi Bold" pitchFamily="34" charset="0"/>
                <a:ea typeface="Tomorrow Semi Bold" pitchFamily="34" charset="-122"/>
              </a:rPr>
              <a:t>Dashboard </a:t>
            </a:r>
            <a:r>
              <a:rPr lang="en-US" sz="2800" b="1" dirty="0">
                <a:solidFill>
                  <a:srgbClr val="61615C"/>
                </a:solidFill>
                <a:latin typeface="Tomorrow Semi Bold" pitchFamily="34" charset="0"/>
                <a:ea typeface="Tomorrow Semi Bold" pitchFamily="34" charset="-122"/>
              </a:rPr>
              <a:t>&amp;</a:t>
            </a:r>
            <a:r>
              <a:rPr lang="en-US" sz="2800" b="1" dirty="0" smtClean="0">
                <a:solidFill>
                  <a:srgbClr val="61615C"/>
                </a:solidFill>
                <a:latin typeface="Tomorrow Semi Bold" pitchFamily="34" charset="0"/>
                <a:ea typeface="Tomorrow Semi Bold" pitchFamily="34" charset="-122"/>
              </a:rPr>
              <a:t> Insights</a:t>
            </a:r>
            <a:endParaRPr lang="en-US" sz="280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D1D1B"/>
                </a:solidFill>
                <a:latin typeface="Tomorrow Semi Bold" pitchFamily="34" charset="0"/>
                <a:ea typeface="Tomorrow Semi Bold" pitchFamily="34" charset="-122"/>
                <a:cs typeface="Tomorrow Semi Bold" pitchFamily="34" charset="-120"/>
              </a:rPr>
              <a:t>Project Overview</a:t>
            </a:r>
            <a:r>
              <a:rPr lang="en-US" dirty="0"/>
              <a:t/>
            </a:r>
            <a:br>
              <a:rPr lang="en-US" dirty="0"/>
            </a:br>
            <a:endParaRPr lang="en-GB" dirty="0"/>
          </a:p>
        </p:txBody>
      </p:sp>
      <p:sp>
        <p:nvSpPr>
          <p:cNvPr id="3" name="Content Placeholder 2"/>
          <p:cNvSpPr>
            <a:spLocks noGrp="1"/>
          </p:cNvSpPr>
          <p:nvPr>
            <p:ph idx="1"/>
          </p:nvPr>
        </p:nvSpPr>
        <p:spPr>
          <a:xfrm>
            <a:off x="838200" y="1289785"/>
            <a:ext cx="7959291" cy="4887178"/>
          </a:xfrm>
        </p:spPr>
        <p:txBody>
          <a:bodyPr>
            <a:normAutofit/>
          </a:bodyPr>
          <a:lstStyle/>
          <a:p>
            <a:pPr marL="0" indent="0">
              <a:buNone/>
            </a:pPr>
            <a:r>
              <a:rPr lang="en-US" sz="1900" dirty="0">
                <a:solidFill>
                  <a:srgbClr val="61615C"/>
                </a:solidFill>
                <a:latin typeface="Tomorrow" pitchFamily="34" charset="0"/>
                <a:ea typeface="Tomorrow" pitchFamily="34" charset="-122"/>
                <a:cs typeface="Tomorrow" pitchFamily="34" charset="-120"/>
              </a:rPr>
              <a:t>This project provides a comprehensive analysis of Valentine's Day sales activities, revealing the underlying factors behind customer purchasing decisions and product performance. Our investigation spans multiple dimensions of consumer behavior, from demographic patterns to temporal purchasing trends.</a:t>
            </a:r>
            <a:endParaRPr lang="en-US" sz="1900" dirty="0"/>
          </a:p>
          <a:p>
            <a:pPr marL="0" indent="0">
              <a:buNone/>
            </a:pPr>
            <a:r>
              <a:rPr lang="en-US" sz="2000" b="1" dirty="0" smtClean="0">
                <a:solidFill>
                  <a:srgbClr val="61615C"/>
                </a:solidFill>
                <a:latin typeface="Tomorrow" pitchFamily="34" charset="0"/>
                <a:ea typeface="Tomorrow" pitchFamily="34" charset="-122"/>
                <a:cs typeface="Tomorrow" pitchFamily="34" charset="-120"/>
              </a:rPr>
              <a:t>Key Focus Areas:</a:t>
            </a:r>
            <a:endParaRPr lang="en-US" sz="2000" dirty="0"/>
          </a:p>
          <a:p>
            <a:pPr lvl="1">
              <a:buFont typeface="Wingdings" panose="05000000000000000000" pitchFamily="2" charset="2"/>
              <a:buChar char="v"/>
            </a:pPr>
            <a:r>
              <a:rPr lang="en-US" sz="1800" dirty="0">
                <a:solidFill>
                  <a:srgbClr val="61615C"/>
                </a:solidFill>
                <a:latin typeface="Tomorrow" pitchFamily="34" charset="0"/>
                <a:ea typeface="Tomorrow" pitchFamily="34" charset="-122"/>
                <a:cs typeface="Tomorrow" pitchFamily="34" charset="-120"/>
              </a:rPr>
              <a:t>Customer purchasing behavior and segmentation</a:t>
            </a:r>
            <a:endParaRPr lang="en-US" sz="1800" dirty="0"/>
          </a:p>
          <a:p>
            <a:pPr lvl="1">
              <a:buFont typeface="Wingdings" panose="05000000000000000000" pitchFamily="2" charset="2"/>
              <a:buChar char="v"/>
            </a:pPr>
            <a:r>
              <a:rPr lang="en-US" sz="1800" dirty="0">
                <a:solidFill>
                  <a:srgbClr val="61615C"/>
                </a:solidFill>
                <a:latin typeface="Tomorrow" pitchFamily="34" charset="0"/>
                <a:ea typeface="Tomorrow" pitchFamily="34" charset="-122"/>
                <a:cs typeface="Tomorrow" pitchFamily="34" charset="-120"/>
              </a:rPr>
              <a:t>Top-selling product identification and analysis</a:t>
            </a:r>
            <a:endParaRPr lang="en-US" sz="1800" dirty="0"/>
          </a:p>
          <a:p>
            <a:pPr lvl="1">
              <a:buFont typeface="Wingdings" panose="05000000000000000000" pitchFamily="2" charset="2"/>
              <a:buChar char="v"/>
            </a:pPr>
            <a:r>
              <a:rPr lang="en-US" sz="1800" dirty="0">
                <a:solidFill>
                  <a:srgbClr val="61615C"/>
                </a:solidFill>
                <a:latin typeface="Tomorrow" pitchFamily="34" charset="0"/>
                <a:ea typeface="Tomorrow" pitchFamily="34" charset="-122"/>
                <a:cs typeface="Tomorrow" pitchFamily="34" charset="-120"/>
              </a:rPr>
              <a:t>Revenue measurement and optimization opportunities</a:t>
            </a:r>
            <a:endParaRPr lang="en-US" sz="1800" dirty="0"/>
          </a:p>
          <a:p>
            <a:pPr lvl="1">
              <a:buFont typeface="Wingdings" panose="05000000000000000000" pitchFamily="2" charset="2"/>
              <a:buChar char="v"/>
            </a:pPr>
            <a:r>
              <a:rPr lang="en-US" sz="1800" dirty="0">
                <a:solidFill>
                  <a:srgbClr val="61615C"/>
                </a:solidFill>
                <a:latin typeface="Tomorrow" pitchFamily="34" charset="0"/>
                <a:ea typeface="Tomorrow" pitchFamily="34" charset="-122"/>
                <a:cs typeface="Tomorrow" pitchFamily="34" charset="-120"/>
              </a:rPr>
              <a:t>Peak buying hours and sales trend patterns</a:t>
            </a:r>
            <a:endParaRPr lang="en-US" sz="1800" dirty="0"/>
          </a:p>
          <a:p>
            <a:pPr lvl="1">
              <a:buFont typeface="Wingdings" panose="05000000000000000000" pitchFamily="2" charset="2"/>
              <a:buChar char="v"/>
            </a:pPr>
            <a:r>
              <a:rPr lang="en-US" sz="1800" dirty="0">
                <a:solidFill>
                  <a:srgbClr val="61615C"/>
                </a:solidFill>
                <a:latin typeface="Tomorrow" pitchFamily="34" charset="0"/>
                <a:ea typeface="Tomorrow" pitchFamily="34" charset="-122"/>
                <a:cs typeface="Tomorrow" pitchFamily="34" charset="-120"/>
              </a:rPr>
              <a:t>Payment method preferences across customer </a:t>
            </a:r>
            <a:r>
              <a:rPr lang="en-US" sz="1800" dirty="0" smtClean="0">
                <a:solidFill>
                  <a:srgbClr val="61615C"/>
                </a:solidFill>
                <a:latin typeface="Tomorrow" pitchFamily="34" charset="0"/>
                <a:ea typeface="Tomorrow" pitchFamily="34" charset="-122"/>
                <a:cs typeface="Tomorrow" pitchFamily="34" charset="-120"/>
              </a:rPr>
              <a:t>segments</a:t>
            </a:r>
          </a:p>
          <a:p>
            <a:endParaRPr lang="en-US" sz="1700" dirty="0">
              <a:solidFill>
                <a:srgbClr val="61615C"/>
              </a:solidFill>
              <a:latin typeface="Tomorrow" pitchFamily="34" charset="0"/>
            </a:endParaRPr>
          </a:p>
          <a:p>
            <a:r>
              <a:rPr lang="en-US" sz="1800" dirty="0">
                <a:solidFill>
                  <a:srgbClr val="61615C"/>
                </a:solidFill>
                <a:latin typeface="Tomorrow" pitchFamily="34" charset="0"/>
                <a:ea typeface="Tomorrow" pitchFamily="34" charset="-122"/>
                <a:cs typeface="Tomorrow" pitchFamily="34" charset="-120"/>
              </a:rPr>
              <a:t>The final deliverable offers strategic insights and data-driven recommendations aimed at enhancing future Valentine's Day sales strategies, optimizing inventory management, and maximizing profitability.</a:t>
            </a:r>
            <a:endParaRPr lang="en-US" sz="1800" dirty="0"/>
          </a:p>
          <a:p>
            <a:endParaRPr lang="en-US" sz="1700" dirty="0"/>
          </a:p>
          <a:p>
            <a:endParaRPr lang="en-GB" dirty="0"/>
          </a:p>
        </p:txBody>
      </p:sp>
      <p:pic>
        <p:nvPicPr>
          <p:cNvPr id="4" name="Image 0" descr="preencoded.png"/>
          <p:cNvPicPr>
            <a:picLocks noChangeAspect="1"/>
          </p:cNvPicPr>
          <p:nvPr/>
        </p:nvPicPr>
        <p:blipFill>
          <a:blip r:embed="rId2"/>
          <a:stretch>
            <a:fillRect/>
          </a:stretch>
        </p:blipFill>
        <p:spPr>
          <a:xfrm>
            <a:off x="8797492" y="1289785"/>
            <a:ext cx="3263314" cy="4716379"/>
          </a:xfrm>
          <a:prstGeom prst="rect">
            <a:avLst/>
          </a:prstGeom>
          <a:effectLst>
            <a:softEdge rad="3175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7499" y="129591"/>
            <a:ext cx="4876800" cy="600393"/>
          </a:xfrm>
        </p:spPr>
        <p:txBody>
          <a:bodyPr>
            <a:normAutofit fontScale="90000"/>
          </a:bodyPr>
          <a:lstStyle/>
          <a:p>
            <a:r>
              <a:rPr lang="en-US" b="1" dirty="0">
                <a:solidFill>
                  <a:srgbClr val="1D1D1B"/>
                </a:solidFill>
                <a:latin typeface="Tomorrow Semi Bold" pitchFamily="34" charset="0"/>
                <a:ea typeface="Tomorrow Semi Bold" pitchFamily="34" charset="-122"/>
                <a:cs typeface="Tomorrow Semi Bold" pitchFamily="34" charset="-120"/>
              </a:rPr>
              <a:t>Problem S</a:t>
            </a:r>
            <a:r>
              <a:rPr lang="en-US" b="1" dirty="0" smtClean="0">
                <a:solidFill>
                  <a:srgbClr val="1D1D1B"/>
                </a:solidFill>
                <a:latin typeface="Tomorrow Semi Bold" pitchFamily="34" charset="0"/>
                <a:ea typeface="Tomorrow Semi Bold" pitchFamily="34" charset="-122"/>
                <a:cs typeface="Tomorrow Semi Bold" pitchFamily="34" charset="-120"/>
              </a:rPr>
              <a:t>tatement</a:t>
            </a:r>
            <a:endParaRPr lang="en-GB" b="1" dirty="0"/>
          </a:p>
        </p:txBody>
      </p:sp>
      <p:sp>
        <p:nvSpPr>
          <p:cNvPr id="3" name="Content Placeholder 2"/>
          <p:cNvSpPr>
            <a:spLocks noGrp="1"/>
          </p:cNvSpPr>
          <p:nvPr>
            <p:ph idx="1"/>
          </p:nvPr>
        </p:nvSpPr>
        <p:spPr>
          <a:xfrm>
            <a:off x="453991" y="874713"/>
            <a:ext cx="4082713" cy="5763124"/>
          </a:xfrm>
        </p:spPr>
        <p:txBody>
          <a:bodyPr/>
          <a:lstStyle/>
          <a:p>
            <a:pPr marL="0" indent="0">
              <a:buNone/>
            </a:pPr>
            <a:endParaRPr lang="en-US" dirty="0"/>
          </a:p>
          <a:p>
            <a:endParaRPr lang="en-GB" dirty="0"/>
          </a:p>
        </p:txBody>
      </p:sp>
      <p:sp>
        <p:nvSpPr>
          <p:cNvPr id="6" name="Rectangle 5"/>
          <p:cNvSpPr/>
          <p:nvPr/>
        </p:nvSpPr>
        <p:spPr>
          <a:xfrm>
            <a:off x="4907280" y="874714"/>
            <a:ext cx="3455469" cy="26276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nSpc>
                <a:spcPct val="200000"/>
              </a:lnSpc>
            </a:pPr>
            <a:r>
              <a:rPr lang="en-US" sz="1400" b="1" dirty="0">
                <a:solidFill>
                  <a:srgbClr val="61615C"/>
                </a:solidFill>
                <a:latin typeface="Tomorrow Semi Bold" pitchFamily="34" charset="0"/>
                <a:ea typeface="Tomorrow Semi Bold" pitchFamily="34" charset="-122"/>
                <a:cs typeface="Tomorrow Semi Bold" pitchFamily="34" charset="-120"/>
              </a:rPr>
              <a:t>T</a:t>
            </a:r>
            <a:r>
              <a:rPr lang="en-US" sz="1400" b="1" dirty="0" smtClean="0">
                <a:solidFill>
                  <a:srgbClr val="61615C"/>
                </a:solidFill>
                <a:latin typeface="Tomorrow Semi Bold" pitchFamily="34" charset="0"/>
                <a:ea typeface="Tomorrow Semi Bold" pitchFamily="34" charset="-122"/>
                <a:cs typeface="Tomorrow Semi Bold" pitchFamily="34" charset="-120"/>
              </a:rPr>
              <a:t>he Challenge</a:t>
            </a:r>
          </a:p>
          <a:p>
            <a:pPr>
              <a:lnSpc>
                <a:spcPct val="200000"/>
              </a:lnSpc>
            </a:pPr>
            <a:r>
              <a:rPr lang="en-US" sz="1200" dirty="0">
                <a:solidFill>
                  <a:srgbClr val="61615C"/>
                </a:solidFill>
                <a:latin typeface="Tomorrow" pitchFamily="34" charset="0"/>
                <a:ea typeface="Tomorrow" pitchFamily="34" charset="-122"/>
                <a:cs typeface="Tomorrow" pitchFamily="34" charset="-120"/>
              </a:rPr>
              <a:t>Despite </a:t>
            </a:r>
            <a:r>
              <a:rPr lang="en-US" sz="1200" dirty="0" smtClean="0">
                <a:solidFill>
                  <a:srgbClr val="61615C"/>
                </a:solidFill>
                <a:latin typeface="Tomorrow" pitchFamily="34" charset="0"/>
                <a:ea typeface="Tomorrow" pitchFamily="34" charset="-122"/>
                <a:cs typeface="Tomorrow" pitchFamily="34" charset="-120"/>
              </a:rPr>
              <a:t>achieving a solid </a:t>
            </a:r>
            <a:r>
              <a:rPr lang="en-US" sz="1200" dirty="0">
                <a:solidFill>
                  <a:srgbClr val="61615C"/>
                </a:solidFill>
                <a:latin typeface="Tomorrow" pitchFamily="34" charset="0"/>
                <a:ea typeface="Tomorrow" pitchFamily="34" charset="-122"/>
                <a:cs typeface="Tomorrow" pitchFamily="34" charset="-120"/>
              </a:rPr>
              <a:t>Valentine's Day sales performance, the business operates without clear visibility into the drivers of success. Critical questions remain unanswered about product performance, customer preferences, and purchasing behavior patterns</a:t>
            </a:r>
            <a:endParaRPr lang="en-US" sz="1200" dirty="0"/>
          </a:p>
        </p:txBody>
      </p:sp>
      <p:sp>
        <p:nvSpPr>
          <p:cNvPr id="7" name="Rectangle 6"/>
          <p:cNvSpPr/>
          <p:nvPr/>
        </p:nvSpPr>
        <p:spPr>
          <a:xfrm>
            <a:off x="8603380" y="874713"/>
            <a:ext cx="3455469" cy="26276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en-US" sz="1400" b="1" dirty="0">
                <a:solidFill>
                  <a:srgbClr val="61615C"/>
                </a:solidFill>
                <a:latin typeface="Tomorrow Semi Bold" pitchFamily="34" charset="0"/>
                <a:ea typeface="Tomorrow Semi Bold" pitchFamily="34" charset="-122"/>
                <a:cs typeface="Tomorrow Semi Bold" pitchFamily="34" charset="-120"/>
              </a:rPr>
              <a:t>Knowledge </a:t>
            </a:r>
            <a:r>
              <a:rPr lang="en-US" sz="1400" b="1" dirty="0" smtClean="0">
                <a:solidFill>
                  <a:srgbClr val="61615C"/>
                </a:solidFill>
                <a:latin typeface="Tomorrow Semi Bold" pitchFamily="34" charset="0"/>
                <a:ea typeface="Tomorrow Semi Bold" pitchFamily="34" charset="-122"/>
                <a:cs typeface="Tomorrow Semi Bold" pitchFamily="34" charset="-120"/>
              </a:rPr>
              <a:t>Gaps</a:t>
            </a:r>
          </a:p>
          <a:p>
            <a:pPr marL="171450" indent="-171450">
              <a:lnSpc>
                <a:spcPct val="150000"/>
              </a:lnSpc>
              <a:buFont typeface="Arial" panose="020B0604020202020204" pitchFamily="34" charset="0"/>
              <a:buChar char="•"/>
            </a:pPr>
            <a:r>
              <a:rPr lang="en-US" sz="1200" dirty="0">
                <a:solidFill>
                  <a:srgbClr val="61615C"/>
                </a:solidFill>
                <a:latin typeface="Tomorrow" pitchFamily="34" charset="0"/>
                <a:ea typeface="Tomorrow" pitchFamily="34" charset="-122"/>
                <a:cs typeface="Tomorrow" pitchFamily="34" charset="-120"/>
              </a:rPr>
              <a:t>Which products delivered the strongest performance?</a:t>
            </a:r>
            <a:endParaRPr lang="en-US" sz="1200" dirty="0"/>
          </a:p>
          <a:p>
            <a:pPr marL="171450" indent="-171450">
              <a:lnSpc>
                <a:spcPct val="150000"/>
              </a:lnSpc>
              <a:buFont typeface="Arial" panose="020B0604020202020204" pitchFamily="34" charset="0"/>
              <a:buChar char="•"/>
            </a:pPr>
            <a:r>
              <a:rPr lang="en-US" sz="1200" dirty="0">
                <a:solidFill>
                  <a:srgbClr val="61615C"/>
                </a:solidFill>
                <a:latin typeface="Tomorrow" pitchFamily="34" charset="0"/>
                <a:ea typeface="Tomorrow" pitchFamily="34" charset="-122"/>
                <a:cs typeface="Tomorrow" pitchFamily="34" charset="-120"/>
              </a:rPr>
              <a:t>What payment methods do customers prefer and why?</a:t>
            </a:r>
            <a:endParaRPr lang="en-US" sz="1200" dirty="0"/>
          </a:p>
          <a:p>
            <a:pPr marL="171450" indent="-171450">
              <a:lnSpc>
                <a:spcPct val="150000"/>
              </a:lnSpc>
              <a:buFont typeface="Arial" panose="020B0604020202020204" pitchFamily="34" charset="0"/>
              <a:buChar char="•"/>
            </a:pPr>
            <a:r>
              <a:rPr lang="en-US" sz="1200" dirty="0">
                <a:solidFill>
                  <a:srgbClr val="61615C"/>
                </a:solidFill>
                <a:latin typeface="Tomorrow" pitchFamily="34" charset="0"/>
                <a:ea typeface="Tomorrow" pitchFamily="34" charset="-122"/>
                <a:cs typeface="Tomorrow" pitchFamily="34" charset="-120"/>
              </a:rPr>
              <a:t>What factors influenced buying decisions and timing?</a:t>
            </a:r>
            <a:endParaRPr lang="en-US" sz="1200" dirty="0"/>
          </a:p>
          <a:p>
            <a:pPr marL="171450" indent="-171450">
              <a:lnSpc>
                <a:spcPct val="150000"/>
              </a:lnSpc>
              <a:buFont typeface="Arial" panose="020B0604020202020204" pitchFamily="34" charset="0"/>
              <a:buChar char="•"/>
            </a:pPr>
            <a:r>
              <a:rPr lang="en-US" sz="1200" dirty="0">
                <a:solidFill>
                  <a:srgbClr val="61615C"/>
                </a:solidFill>
                <a:latin typeface="Tomorrow" pitchFamily="34" charset="0"/>
                <a:ea typeface="Tomorrow" pitchFamily="34" charset="-122"/>
                <a:cs typeface="Tomorrow" pitchFamily="34" charset="-120"/>
              </a:rPr>
              <a:t>How do customer segments differ in their behavior?</a:t>
            </a:r>
            <a:endParaRPr lang="en-US" sz="1200" dirty="0"/>
          </a:p>
          <a:p>
            <a:pPr>
              <a:lnSpc>
                <a:spcPct val="150000"/>
              </a:lnSpc>
            </a:pPr>
            <a:endParaRPr lang="en-US" sz="1200" dirty="0"/>
          </a:p>
        </p:txBody>
      </p:sp>
      <p:sp>
        <p:nvSpPr>
          <p:cNvPr id="8" name="Rectangle 7"/>
          <p:cNvSpPr/>
          <p:nvPr/>
        </p:nvSpPr>
        <p:spPr>
          <a:xfrm>
            <a:off x="4907281" y="3791868"/>
            <a:ext cx="3588618" cy="26137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nSpc>
                <a:spcPct val="200000"/>
              </a:lnSpc>
            </a:pPr>
            <a:r>
              <a:rPr lang="en-US" sz="1400" b="1" dirty="0">
                <a:solidFill>
                  <a:srgbClr val="61615C"/>
                </a:solidFill>
                <a:latin typeface="Tomorrow Semi Bold" pitchFamily="34" charset="0"/>
                <a:ea typeface="Tomorrow Semi Bold" pitchFamily="34" charset="-122"/>
                <a:cs typeface="Tomorrow Semi Bold" pitchFamily="34" charset="-120"/>
              </a:rPr>
              <a:t>Business </a:t>
            </a:r>
            <a:r>
              <a:rPr lang="en-US" sz="1400" b="1" dirty="0" smtClean="0">
                <a:solidFill>
                  <a:srgbClr val="61615C"/>
                </a:solidFill>
                <a:latin typeface="Tomorrow Semi Bold" pitchFamily="34" charset="0"/>
                <a:ea typeface="Tomorrow Semi Bold" pitchFamily="34" charset="-122"/>
                <a:cs typeface="Tomorrow Semi Bold" pitchFamily="34" charset="-120"/>
              </a:rPr>
              <a:t>Impact</a:t>
            </a:r>
          </a:p>
          <a:p>
            <a:pPr>
              <a:lnSpc>
                <a:spcPct val="200000"/>
              </a:lnSpc>
            </a:pPr>
            <a:r>
              <a:rPr lang="en-US" sz="1200" dirty="0">
                <a:solidFill>
                  <a:srgbClr val="61615C"/>
                </a:solidFill>
                <a:latin typeface="Tomorrow" pitchFamily="34" charset="0"/>
                <a:ea typeface="Tomorrow" pitchFamily="34" charset="-122"/>
                <a:cs typeface="Tomorrow" pitchFamily="34" charset="-120"/>
              </a:rPr>
              <a:t>Without actionable insights, the business struggles to plan effective promotions, manage inventory strategically, and refine sales approaches. This project bridges these gaps by transforming raw data into clear, strategic intelligence for future Valentine's Day </a:t>
            </a:r>
            <a:r>
              <a:rPr lang="en-US" sz="1200" dirty="0" smtClean="0">
                <a:solidFill>
                  <a:srgbClr val="61615C"/>
                </a:solidFill>
                <a:latin typeface="Tomorrow" pitchFamily="34" charset="0"/>
                <a:ea typeface="Tomorrow" pitchFamily="34" charset="-122"/>
                <a:cs typeface="Tomorrow" pitchFamily="34" charset="-120"/>
              </a:rPr>
              <a:t>campaigns.</a:t>
            </a:r>
            <a:endParaRPr lang="en-US" sz="1200" dirty="0"/>
          </a:p>
        </p:txBody>
      </p:sp>
      <p:pic>
        <p:nvPicPr>
          <p:cNvPr id="4" name="Picture 3"/>
          <p:cNvPicPr>
            <a:picLocks noChangeAspect="1"/>
          </p:cNvPicPr>
          <p:nvPr/>
        </p:nvPicPr>
        <p:blipFill>
          <a:blip r:embed="rId2"/>
          <a:stretch>
            <a:fillRect/>
          </a:stretch>
        </p:blipFill>
        <p:spPr>
          <a:xfrm>
            <a:off x="0" y="1"/>
            <a:ext cx="4721991" cy="6858000"/>
          </a:xfrm>
          <a:prstGeom prst="rect">
            <a:avLst/>
          </a:prstGeom>
          <a:effectLst>
            <a:softEdge rad="63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7264078" cy="1035412"/>
          </a:xfrm>
        </p:spPr>
        <p:txBody>
          <a:bodyPr>
            <a:normAutofit fontScale="90000"/>
          </a:bodyPr>
          <a:lstStyle/>
          <a:p>
            <a:r>
              <a:rPr lang="en-US" dirty="0">
                <a:solidFill>
                  <a:srgbClr val="1D1D1B"/>
                </a:solidFill>
                <a:latin typeface="Tomorrow Semi Bold" pitchFamily="34" charset="0"/>
                <a:ea typeface="Tomorrow Semi Bold" pitchFamily="34" charset="-122"/>
                <a:cs typeface="Tomorrow Semi Bold" pitchFamily="34" charset="-120"/>
              </a:rPr>
              <a:t>Dataset </a:t>
            </a:r>
            <a:r>
              <a:rPr lang="en-US" dirty="0" smtClean="0">
                <a:solidFill>
                  <a:srgbClr val="1D1D1B"/>
                </a:solidFill>
                <a:latin typeface="Tomorrow Semi Bold" pitchFamily="34" charset="0"/>
                <a:ea typeface="Tomorrow Semi Bold" pitchFamily="34" charset="-122"/>
                <a:cs typeface="Tomorrow Semi Bold" pitchFamily="34" charset="-120"/>
              </a:rPr>
              <a:t>Overview</a:t>
            </a:r>
            <a:r>
              <a:rPr lang="en-US" dirty="0"/>
              <a:t/>
            </a:r>
            <a:br>
              <a:rPr lang="en-US" dirty="0"/>
            </a:br>
            <a:r>
              <a:rPr lang="en-US" sz="2200" b="1" dirty="0">
                <a:solidFill>
                  <a:srgbClr val="1D1D1B"/>
                </a:solidFill>
                <a:latin typeface="Tomorrow Semi Bold" pitchFamily="34" charset="0"/>
                <a:ea typeface="Tomorrow Semi Bold" pitchFamily="34" charset="-122"/>
                <a:cs typeface="Tomorrow Semi Bold" pitchFamily="34" charset="-120"/>
              </a:rPr>
              <a:t>Comprehensive Valentine's Day Transaction Data</a:t>
            </a:r>
            <a:r>
              <a:rPr lang="en-US" sz="2200" b="1" dirty="0"/>
              <a:t/>
            </a:r>
            <a:br>
              <a:rPr lang="en-US" sz="2200" b="1" dirty="0"/>
            </a:br>
            <a:endParaRPr lang="en-GB" sz="2200" b="1" dirty="0"/>
          </a:p>
        </p:txBody>
      </p:sp>
      <p:sp>
        <p:nvSpPr>
          <p:cNvPr id="3" name="Content Placeholder 2"/>
          <p:cNvSpPr>
            <a:spLocks noGrp="1"/>
          </p:cNvSpPr>
          <p:nvPr>
            <p:ph idx="1"/>
          </p:nvPr>
        </p:nvSpPr>
        <p:spPr>
          <a:xfrm>
            <a:off x="132144" y="1400537"/>
            <a:ext cx="7264078" cy="5173883"/>
          </a:xfrm>
        </p:spPr>
        <p:txBody>
          <a:bodyPr>
            <a:normAutofit fontScale="92500" lnSpcReduction="10000"/>
          </a:bodyPr>
          <a:lstStyle/>
          <a:p>
            <a:pPr marL="0" indent="0">
              <a:buNone/>
            </a:pPr>
            <a:r>
              <a:rPr lang="en-US" sz="2200" dirty="0" smtClean="0">
                <a:solidFill>
                  <a:srgbClr val="61615C"/>
                </a:solidFill>
                <a:latin typeface="Tomorrow" pitchFamily="34" charset="0"/>
                <a:ea typeface="Tomorrow" pitchFamily="34" charset="-122"/>
                <a:cs typeface="Tomorrow" pitchFamily="34" charset="-120"/>
              </a:rPr>
              <a:t>Our dataset, sourced from </a:t>
            </a:r>
            <a:r>
              <a:rPr lang="en-US" sz="2200" dirty="0" err="1" smtClean="0">
                <a:solidFill>
                  <a:srgbClr val="61615C"/>
                </a:solidFill>
                <a:latin typeface="Tomorrow" pitchFamily="34" charset="0"/>
                <a:ea typeface="Tomorrow" pitchFamily="34" charset="-122"/>
                <a:cs typeface="Tomorrow" pitchFamily="34" charset="-120"/>
              </a:rPr>
              <a:t>Kaggle</a:t>
            </a:r>
            <a:r>
              <a:rPr lang="en-US" sz="2200" dirty="0" smtClean="0">
                <a:solidFill>
                  <a:srgbClr val="61615C"/>
                </a:solidFill>
                <a:latin typeface="Tomorrow" pitchFamily="34" charset="0"/>
                <a:ea typeface="Tomorrow" pitchFamily="34" charset="-122"/>
                <a:cs typeface="Tomorrow" pitchFamily="34" charset="-120"/>
              </a:rPr>
              <a:t>, provides a rich, multidimensional view of customer purchasing behavior during </a:t>
            </a:r>
            <a:r>
              <a:rPr lang="en-US" sz="2200" dirty="0">
                <a:solidFill>
                  <a:srgbClr val="61615C"/>
                </a:solidFill>
                <a:latin typeface="Tomorrow" pitchFamily="34" charset="0"/>
                <a:ea typeface="Tomorrow" pitchFamily="34" charset="-122"/>
                <a:cs typeface="Tomorrow" pitchFamily="34" charset="-120"/>
              </a:rPr>
              <a:t>Valentine's Day. It captures the complete customer journey, from search patterns to final purchase decisions</a:t>
            </a:r>
            <a:r>
              <a:rPr lang="en-US" sz="2200" dirty="0" smtClean="0">
                <a:solidFill>
                  <a:srgbClr val="61615C"/>
                </a:solidFill>
                <a:latin typeface="Tomorrow" pitchFamily="34" charset="0"/>
                <a:ea typeface="Tomorrow" pitchFamily="34" charset="-122"/>
                <a:cs typeface="Tomorrow" pitchFamily="34" charset="-120"/>
              </a:rPr>
              <a:t>.</a:t>
            </a:r>
          </a:p>
          <a:p>
            <a:pPr marL="0" indent="0">
              <a:buNone/>
            </a:pPr>
            <a:endParaRPr lang="en-US" dirty="0"/>
          </a:p>
          <a:p>
            <a:pPr marL="0" indent="0">
              <a:buNone/>
            </a:pPr>
            <a:r>
              <a:rPr lang="en-US" b="1" dirty="0">
                <a:solidFill>
                  <a:srgbClr val="61615C"/>
                </a:solidFill>
                <a:latin typeface="Tomorrow" pitchFamily="34" charset="0"/>
                <a:ea typeface="Tomorrow" pitchFamily="34" charset="-122"/>
                <a:cs typeface="Tomorrow" pitchFamily="34" charset="-120"/>
              </a:rPr>
              <a:t>Data Dimensions Include:</a:t>
            </a:r>
            <a:endParaRPr lang="en-US" dirty="0"/>
          </a:p>
          <a:p>
            <a:pPr lvl="1">
              <a:buFont typeface="Wingdings" panose="05000000000000000000" pitchFamily="2" charset="2"/>
              <a:buChar char="v"/>
            </a:pPr>
            <a:r>
              <a:rPr lang="en-US" sz="2200" dirty="0">
                <a:solidFill>
                  <a:srgbClr val="61615C"/>
                </a:solidFill>
                <a:latin typeface="Tomorrow" pitchFamily="34" charset="0"/>
                <a:ea typeface="Tomorrow" pitchFamily="34" charset="-122"/>
                <a:cs typeface="Tomorrow" pitchFamily="34" charset="-120"/>
              </a:rPr>
              <a:t>Transaction details: items, prices, and quantities</a:t>
            </a:r>
            <a:endParaRPr lang="en-US" sz="2200" dirty="0"/>
          </a:p>
          <a:p>
            <a:pPr lvl="1">
              <a:buFont typeface="Wingdings" panose="05000000000000000000" pitchFamily="2" charset="2"/>
              <a:buChar char="v"/>
            </a:pPr>
            <a:r>
              <a:rPr lang="en-US" sz="2200" dirty="0">
                <a:solidFill>
                  <a:srgbClr val="61615C"/>
                </a:solidFill>
                <a:latin typeface="Tomorrow" pitchFamily="34" charset="0"/>
                <a:ea typeface="Tomorrow" pitchFamily="34" charset="-122"/>
                <a:cs typeface="Tomorrow" pitchFamily="34" charset="-120"/>
              </a:rPr>
              <a:t>Customer demographics: gender and age groups</a:t>
            </a:r>
            <a:endParaRPr lang="en-US" sz="2200" dirty="0"/>
          </a:p>
          <a:p>
            <a:pPr lvl="1">
              <a:buFont typeface="Wingdings" panose="05000000000000000000" pitchFamily="2" charset="2"/>
              <a:buChar char="v"/>
            </a:pPr>
            <a:r>
              <a:rPr lang="en-US" sz="2200" dirty="0">
                <a:solidFill>
                  <a:srgbClr val="61615C"/>
                </a:solidFill>
                <a:latin typeface="Tomorrow" pitchFamily="34" charset="0"/>
                <a:ea typeface="Tomorrow" pitchFamily="34" charset="-122"/>
                <a:cs typeface="Tomorrow" pitchFamily="34" charset="-120"/>
              </a:rPr>
              <a:t>Membership tiers and loyalty patterns</a:t>
            </a:r>
            <a:endParaRPr lang="en-US" sz="2200" dirty="0"/>
          </a:p>
          <a:p>
            <a:pPr lvl="1">
              <a:buFont typeface="Wingdings" panose="05000000000000000000" pitchFamily="2" charset="2"/>
              <a:buChar char="v"/>
            </a:pPr>
            <a:r>
              <a:rPr lang="en-US" sz="2200" dirty="0">
                <a:solidFill>
                  <a:srgbClr val="61615C"/>
                </a:solidFill>
                <a:latin typeface="Tomorrow" pitchFamily="34" charset="0"/>
                <a:ea typeface="Tomorrow" pitchFamily="34" charset="-122"/>
                <a:cs typeface="Tomorrow" pitchFamily="34" charset="-120"/>
              </a:rPr>
              <a:t>Search behavior and product discovery</a:t>
            </a:r>
            <a:endParaRPr lang="en-US" sz="2200" dirty="0"/>
          </a:p>
          <a:p>
            <a:pPr lvl="1">
              <a:buFont typeface="Wingdings" panose="05000000000000000000" pitchFamily="2" charset="2"/>
              <a:buChar char="v"/>
            </a:pPr>
            <a:r>
              <a:rPr lang="en-US" sz="2200" dirty="0">
                <a:solidFill>
                  <a:srgbClr val="61615C"/>
                </a:solidFill>
                <a:latin typeface="Tomorrow" pitchFamily="34" charset="0"/>
                <a:ea typeface="Tomorrow" pitchFamily="34" charset="-122"/>
                <a:cs typeface="Tomorrow" pitchFamily="34" charset="-120"/>
              </a:rPr>
              <a:t>Geographic distribution and location data</a:t>
            </a:r>
            <a:endParaRPr lang="en-US" sz="2200" dirty="0"/>
          </a:p>
          <a:p>
            <a:pPr lvl="1">
              <a:buFont typeface="Wingdings" panose="05000000000000000000" pitchFamily="2" charset="2"/>
              <a:buChar char="v"/>
            </a:pPr>
            <a:r>
              <a:rPr lang="en-US" sz="2200" dirty="0">
                <a:solidFill>
                  <a:srgbClr val="61615C"/>
                </a:solidFill>
                <a:latin typeface="Tomorrow" pitchFamily="34" charset="0"/>
                <a:ea typeface="Tomorrow" pitchFamily="34" charset="-122"/>
                <a:cs typeface="Tomorrow" pitchFamily="34" charset="-120"/>
              </a:rPr>
              <a:t>Payment methods and transaction times</a:t>
            </a:r>
            <a:endParaRPr lang="en-US" sz="2200" dirty="0"/>
          </a:p>
          <a:p>
            <a:pPr lvl="1">
              <a:buFont typeface="Wingdings" panose="05000000000000000000" pitchFamily="2" charset="2"/>
              <a:buChar char="v"/>
            </a:pPr>
            <a:r>
              <a:rPr lang="en-US" sz="2200" dirty="0">
                <a:solidFill>
                  <a:srgbClr val="61615C"/>
                </a:solidFill>
                <a:latin typeface="Tomorrow" pitchFamily="34" charset="0"/>
                <a:ea typeface="Tomorrow" pitchFamily="34" charset="-122"/>
                <a:cs typeface="Tomorrow" pitchFamily="34" charset="-120"/>
              </a:rPr>
              <a:t>This </a:t>
            </a:r>
            <a:r>
              <a:rPr lang="en-US" sz="2200" dirty="0" smtClean="0">
                <a:solidFill>
                  <a:srgbClr val="61615C"/>
                </a:solidFill>
                <a:latin typeface="Tomorrow" pitchFamily="34" charset="0"/>
                <a:ea typeface="Tomorrow" pitchFamily="34" charset="-122"/>
                <a:cs typeface="Tomorrow" pitchFamily="34" charset="-120"/>
              </a:rPr>
              <a:t>real-world-inspired </a:t>
            </a:r>
            <a:r>
              <a:rPr lang="en-US" sz="2200" dirty="0">
                <a:solidFill>
                  <a:srgbClr val="61615C"/>
                </a:solidFill>
                <a:latin typeface="Tomorrow" pitchFamily="34" charset="0"/>
                <a:ea typeface="Tomorrow" pitchFamily="34" charset="-122"/>
                <a:cs typeface="Tomorrow" pitchFamily="34" charset="-120"/>
              </a:rPr>
              <a:t>dataset enables businesses to decode consumer preferences, optimize marketing strategies, and make data-driven decisions for future Valentine's Day events.</a:t>
            </a:r>
            <a:endParaRPr lang="en-US" sz="2200" dirty="0"/>
          </a:p>
          <a:p>
            <a:pPr lvl="1">
              <a:buFont typeface="Wingdings" panose="05000000000000000000" pitchFamily="2" charset="2"/>
              <a:buChar char="v"/>
            </a:pPr>
            <a:endParaRPr lang="en-GB" sz="2200" dirty="0"/>
          </a:p>
        </p:txBody>
      </p:sp>
      <p:pic>
        <p:nvPicPr>
          <p:cNvPr id="4" name="Image 0" descr="preencoded.png"/>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7569844" y="1724629"/>
            <a:ext cx="4240192" cy="4132162"/>
          </a:xfrm>
          <a:prstGeom prst="rect">
            <a:avLst/>
          </a:prstGeom>
          <a:effectLst>
            <a:softEdge rad="3175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378" y="1825625"/>
            <a:ext cx="12124622" cy="4984035"/>
          </a:xfrm>
        </p:spPr>
        <p:txBody>
          <a:bodyPr/>
          <a:lstStyle/>
          <a:p>
            <a:pPr marL="0" indent="0">
              <a:buNone/>
            </a:pPr>
            <a:endParaRPr lang="en-US" dirty="0"/>
          </a:p>
          <a:p>
            <a:endParaRPr lang="en-GB" dirty="0"/>
          </a:p>
        </p:txBody>
      </p:sp>
      <p:pic>
        <p:nvPicPr>
          <p:cNvPr id="4" name="Image 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2416" y="1664371"/>
            <a:ext cx="680442" cy="680442"/>
          </a:xfrm>
          <a:prstGeom prst="rect">
            <a:avLst/>
          </a:prstGeom>
          <a:effectLst>
            <a:softEdge rad="127000"/>
          </a:effectLst>
        </p:spPr>
      </p:pic>
      <p:pic>
        <p:nvPicPr>
          <p:cNvPr id="5"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19786" y="1771943"/>
            <a:ext cx="680442" cy="640485"/>
          </a:xfrm>
          <a:prstGeom prst="rect">
            <a:avLst/>
          </a:prstGeom>
          <a:effectLst>
            <a:softEdge rad="127000"/>
          </a:effectLst>
        </p:spPr>
      </p:pic>
      <p:sp>
        <p:nvSpPr>
          <p:cNvPr id="6" name="Text 3"/>
          <p:cNvSpPr/>
          <p:nvPr/>
        </p:nvSpPr>
        <p:spPr>
          <a:xfrm>
            <a:off x="375241" y="4668236"/>
            <a:ext cx="3491019" cy="1451610"/>
          </a:xfrm>
          <a:prstGeom prst="rect">
            <a:avLst/>
          </a:prstGeom>
          <a:noFill/>
        </p:spPr>
        <p:txBody>
          <a:bodyPr wrap="square" lIns="0" tIns="0" rIns="0" bIns="0" rtlCol="0" anchor="t"/>
          <a:lstStyle/>
          <a:p>
            <a:pPr marL="0" indent="0" algn="l">
              <a:lnSpc>
                <a:spcPts val="2850"/>
              </a:lnSpc>
              <a:buNone/>
            </a:pPr>
            <a:r>
              <a:rPr lang="en-US" sz="1750" b="1" dirty="0">
                <a:solidFill>
                  <a:srgbClr val="61615C"/>
                </a:solidFill>
                <a:latin typeface="Tomorrow" pitchFamily="34" charset="0"/>
                <a:ea typeface="Tomorrow" pitchFamily="34" charset="-122"/>
                <a:cs typeface="Tomorrow" pitchFamily="34" charset="-120"/>
              </a:rPr>
              <a:t>Transformation capabilities:</a:t>
            </a:r>
            <a:r>
              <a:rPr lang="en-US" sz="1750" dirty="0">
                <a:solidFill>
                  <a:srgbClr val="61615C"/>
                </a:solidFill>
                <a:latin typeface="Tomorrow" pitchFamily="34" charset="0"/>
                <a:ea typeface="Tomorrow" pitchFamily="34" charset="-122"/>
                <a:cs typeface="Tomorrow" pitchFamily="34" charset="-120"/>
              </a:rPr>
              <a:t> Sorting and categorizing products, summarizing payment methods, and calculating revenue metrics to identify top performers</a:t>
            </a:r>
            <a:endParaRPr lang="en-US" sz="1750" dirty="0"/>
          </a:p>
        </p:txBody>
      </p:sp>
      <p:sp>
        <p:nvSpPr>
          <p:cNvPr id="7" name="Text 2"/>
          <p:cNvSpPr/>
          <p:nvPr/>
        </p:nvSpPr>
        <p:spPr>
          <a:xfrm>
            <a:off x="375241" y="2943923"/>
            <a:ext cx="3672331" cy="1451610"/>
          </a:xfrm>
          <a:prstGeom prst="rect">
            <a:avLst/>
          </a:prstGeom>
          <a:noFill/>
        </p:spPr>
        <p:txBody>
          <a:bodyPr wrap="square" lIns="0" tIns="0" rIns="0" bIns="0" rtlCol="0" anchor="t"/>
          <a:lstStyle/>
          <a:p>
            <a:pPr marL="0" indent="0" algn="l">
              <a:lnSpc>
                <a:spcPts val="2850"/>
              </a:lnSpc>
              <a:buNone/>
            </a:pPr>
            <a:r>
              <a:rPr lang="en-US" sz="1750" b="1" dirty="0">
                <a:solidFill>
                  <a:srgbClr val="61615C"/>
                </a:solidFill>
                <a:latin typeface="Tomorrow" pitchFamily="34" charset="0"/>
                <a:ea typeface="Tomorrow" pitchFamily="34" charset="-122"/>
                <a:cs typeface="Tomorrow" pitchFamily="34" charset="-120"/>
              </a:rPr>
              <a:t>Data cleaning powerhouse:</a:t>
            </a:r>
            <a:r>
              <a:rPr lang="en-US" sz="1750" dirty="0">
                <a:solidFill>
                  <a:srgbClr val="61615C"/>
                </a:solidFill>
                <a:latin typeface="Tomorrow" pitchFamily="34" charset="0"/>
                <a:ea typeface="Tomorrow" pitchFamily="34" charset="-122"/>
                <a:cs typeface="Tomorrow" pitchFamily="34" charset="-120"/>
              </a:rPr>
              <a:t> Systematic removal of errors, duplicates, and incomplete records ensuring data integrity</a:t>
            </a:r>
            <a:endParaRPr lang="en-US" sz="1750" dirty="0"/>
          </a:p>
        </p:txBody>
      </p:sp>
      <p:sp>
        <p:nvSpPr>
          <p:cNvPr id="8" name="Text 5"/>
          <p:cNvSpPr/>
          <p:nvPr/>
        </p:nvSpPr>
        <p:spPr>
          <a:xfrm>
            <a:off x="4583953" y="2943923"/>
            <a:ext cx="3503846" cy="1089859"/>
          </a:xfrm>
          <a:prstGeom prst="rect">
            <a:avLst/>
          </a:prstGeom>
          <a:noFill/>
        </p:spPr>
        <p:txBody>
          <a:bodyPr wrap="square" lIns="0" tIns="0" rIns="0" bIns="0" rtlCol="0" anchor="t"/>
          <a:lstStyle/>
          <a:p>
            <a:pPr marL="0" indent="0" algn="l">
              <a:lnSpc>
                <a:spcPts val="2850"/>
              </a:lnSpc>
              <a:buNone/>
            </a:pPr>
            <a:r>
              <a:rPr lang="en-US" sz="1750" b="1" dirty="0">
                <a:solidFill>
                  <a:srgbClr val="61615C"/>
                </a:solidFill>
                <a:latin typeface="Tomorrow" pitchFamily="34" charset="0"/>
                <a:ea typeface="Tomorrow" pitchFamily="34" charset="-122"/>
                <a:cs typeface="Tomorrow" pitchFamily="34" charset="-120"/>
              </a:rPr>
              <a:t>Visualization engine:</a:t>
            </a:r>
            <a:r>
              <a:rPr lang="en-US" sz="1750" dirty="0">
                <a:solidFill>
                  <a:srgbClr val="61615C"/>
                </a:solidFill>
                <a:latin typeface="Tomorrow" pitchFamily="34" charset="0"/>
                <a:ea typeface="Tomorrow" pitchFamily="34" charset="-122"/>
                <a:cs typeface="Tomorrow" pitchFamily="34" charset="-120"/>
              </a:rPr>
              <a:t> Creating dynamic, interactive charts and graphs that bring data stories to life</a:t>
            </a:r>
            <a:endParaRPr lang="en-US" sz="1750" dirty="0"/>
          </a:p>
        </p:txBody>
      </p:sp>
      <p:sp>
        <p:nvSpPr>
          <p:cNvPr id="9" name="Text 6"/>
          <p:cNvSpPr/>
          <p:nvPr/>
        </p:nvSpPr>
        <p:spPr>
          <a:xfrm>
            <a:off x="4583953" y="4668236"/>
            <a:ext cx="3215088" cy="1530993"/>
          </a:xfrm>
          <a:prstGeom prst="rect">
            <a:avLst/>
          </a:prstGeom>
          <a:noFill/>
        </p:spPr>
        <p:txBody>
          <a:bodyPr wrap="square" lIns="0" tIns="0" rIns="0" bIns="0" rtlCol="0" anchor="t"/>
          <a:lstStyle/>
          <a:p>
            <a:pPr marL="0" indent="0" algn="l">
              <a:lnSpc>
                <a:spcPts val="2850"/>
              </a:lnSpc>
              <a:buNone/>
            </a:pPr>
            <a:r>
              <a:rPr lang="en-US" sz="1750" b="1" dirty="0">
                <a:solidFill>
                  <a:srgbClr val="61615C"/>
                </a:solidFill>
                <a:latin typeface="Tomorrow" pitchFamily="34" charset="0"/>
                <a:ea typeface="Tomorrow" pitchFamily="34" charset="-122"/>
                <a:cs typeface="Tomorrow" pitchFamily="34" charset="-120"/>
              </a:rPr>
              <a:t>Dashboard development:</a:t>
            </a:r>
            <a:r>
              <a:rPr lang="en-US" sz="1750" dirty="0">
                <a:solidFill>
                  <a:srgbClr val="61615C"/>
                </a:solidFill>
                <a:latin typeface="Tomorrow" pitchFamily="34" charset="0"/>
                <a:ea typeface="Tomorrow" pitchFamily="34" charset="-122"/>
                <a:cs typeface="Tomorrow" pitchFamily="34" charset="-120"/>
              </a:rPr>
              <a:t> Building comprehensive analytical dashboards that enable stakeholders to explore insights intuitively and make informed decisions</a:t>
            </a:r>
            <a:endParaRPr lang="en-US" sz="1750" dirty="0"/>
          </a:p>
        </p:txBody>
      </p:sp>
      <p:sp>
        <p:nvSpPr>
          <p:cNvPr id="10" name="Text 8"/>
          <p:cNvSpPr/>
          <p:nvPr/>
        </p:nvSpPr>
        <p:spPr>
          <a:xfrm>
            <a:off x="8820571" y="2860119"/>
            <a:ext cx="3141398" cy="1535414"/>
          </a:xfrm>
          <a:prstGeom prst="rect">
            <a:avLst/>
          </a:prstGeom>
          <a:noFill/>
        </p:spPr>
        <p:txBody>
          <a:bodyPr wrap="square" lIns="0" tIns="0" rIns="0" bIns="0" rtlCol="0" anchor="t"/>
          <a:lstStyle/>
          <a:p>
            <a:pPr marL="0" indent="0" algn="l">
              <a:lnSpc>
                <a:spcPts val="2850"/>
              </a:lnSpc>
              <a:buNone/>
            </a:pPr>
            <a:r>
              <a:rPr lang="en-US" sz="1750" b="1" dirty="0">
                <a:solidFill>
                  <a:srgbClr val="61615C"/>
                </a:solidFill>
                <a:latin typeface="Tomorrow" pitchFamily="34" charset="0"/>
                <a:ea typeface="Tomorrow" pitchFamily="34" charset="-122"/>
                <a:cs typeface="Tomorrow" pitchFamily="34" charset="-120"/>
              </a:rPr>
              <a:t>Communication platform:</a:t>
            </a:r>
            <a:r>
              <a:rPr lang="en-US" sz="1750" dirty="0">
                <a:solidFill>
                  <a:srgbClr val="61615C"/>
                </a:solidFill>
                <a:latin typeface="Tomorrow" pitchFamily="34" charset="0"/>
                <a:ea typeface="Tomorrow" pitchFamily="34" charset="-122"/>
                <a:cs typeface="Tomorrow" pitchFamily="34" charset="-120"/>
              </a:rPr>
              <a:t> Crafting professional reports that translate complex data findings into clear narratives</a:t>
            </a:r>
            <a:endParaRPr lang="en-US" sz="1750" dirty="0"/>
          </a:p>
        </p:txBody>
      </p:sp>
      <p:sp>
        <p:nvSpPr>
          <p:cNvPr id="11" name="Text 9"/>
          <p:cNvSpPr/>
          <p:nvPr/>
        </p:nvSpPr>
        <p:spPr>
          <a:xfrm>
            <a:off x="8857626" y="4668236"/>
            <a:ext cx="3185963" cy="1235681"/>
          </a:xfrm>
          <a:prstGeom prst="rect">
            <a:avLst/>
          </a:prstGeom>
          <a:noFill/>
        </p:spPr>
        <p:txBody>
          <a:bodyPr wrap="square" lIns="0" tIns="0" rIns="0" bIns="0" rtlCol="0" anchor="t"/>
          <a:lstStyle/>
          <a:p>
            <a:pPr marL="0" indent="0" algn="l">
              <a:lnSpc>
                <a:spcPts val="2850"/>
              </a:lnSpc>
              <a:buNone/>
            </a:pPr>
            <a:r>
              <a:rPr lang="en-US" sz="1750" b="1" dirty="0">
                <a:solidFill>
                  <a:srgbClr val="61615C"/>
                </a:solidFill>
                <a:latin typeface="Tomorrow" pitchFamily="34" charset="0"/>
                <a:ea typeface="Tomorrow" pitchFamily="34" charset="-122"/>
                <a:cs typeface="Tomorrow" pitchFamily="34" charset="-120"/>
              </a:rPr>
              <a:t>Presentation design:</a:t>
            </a:r>
            <a:r>
              <a:rPr lang="en-US" sz="1750" dirty="0">
                <a:solidFill>
                  <a:srgbClr val="61615C"/>
                </a:solidFill>
                <a:latin typeface="Tomorrow" pitchFamily="34" charset="0"/>
                <a:ea typeface="Tomorrow" pitchFamily="34" charset="-122"/>
                <a:cs typeface="Tomorrow" pitchFamily="34" charset="-120"/>
              </a:rPr>
              <a:t> Delivering compelling visual presentations that engage stakeholders and drive actionable business outcomes</a:t>
            </a:r>
            <a:endParaRPr lang="en-US" sz="1750" dirty="0"/>
          </a:p>
        </p:txBody>
      </p:sp>
      <p:pic>
        <p:nvPicPr>
          <p:cNvPr id="12"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7156" y="1673272"/>
            <a:ext cx="680442" cy="680442"/>
          </a:xfrm>
          <a:prstGeom prst="rect">
            <a:avLst/>
          </a:prstGeom>
          <a:effectLst>
            <a:softEdge rad="127000"/>
          </a:effectLst>
        </p:spPr>
      </p:pic>
      <p:sp>
        <p:nvSpPr>
          <p:cNvPr id="13" name="Text 1"/>
          <p:cNvSpPr/>
          <p:nvPr/>
        </p:nvSpPr>
        <p:spPr>
          <a:xfrm>
            <a:off x="375241" y="2536737"/>
            <a:ext cx="2835235" cy="323382"/>
          </a:xfrm>
          <a:prstGeom prst="rect">
            <a:avLst/>
          </a:prstGeom>
          <a:noFill/>
        </p:spPr>
        <p:txBody>
          <a:bodyPr wrap="none" lIns="0" tIns="0" rIns="0" bIns="0" rtlCol="0" anchor="t"/>
          <a:lstStyle/>
          <a:p>
            <a:pPr marL="0" indent="0" algn="l">
              <a:lnSpc>
                <a:spcPts val="2750"/>
              </a:lnSpc>
              <a:buNone/>
            </a:pPr>
            <a:r>
              <a:rPr lang="en-US" sz="2200" b="1" dirty="0">
                <a:solidFill>
                  <a:srgbClr val="61615C"/>
                </a:solidFill>
                <a:latin typeface="Tomorrow Semi Bold" pitchFamily="34" charset="0"/>
                <a:ea typeface="Tomorrow Semi Bold" pitchFamily="34" charset="-122"/>
                <a:cs typeface="Tomorrow Semi Bold" pitchFamily="34" charset="-120"/>
              </a:rPr>
              <a:t>Microsoft Excel</a:t>
            </a:r>
            <a:endParaRPr lang="en-US" sz="2200" b="1" dirty="0"/>
          </a:p>
        </p:txBody>
      </p:sp>
      <p:sp>
        <p:nvSpPr>
          <p:cNvPr id="14" name="Text 4"/>
          <p:cNvSpPr/>
          <p:nvPr/>
        </p:nvSpPr>
        <p:spPr>
          <a:xfrm>
            <a:off x="4582806" y="2536737"/>
            <a:ext cx="3216235" cy="323382"/>
          </a:xfrm>
          <a:prstGeom prst="rect">
            <a:avLst/>
          </a:prstGeom>
          <a:noFill/>
        </p:spPr>
        <p:txBody>
          <a:bodyPr wrap="none" lIns="0" tIns="0" rIns="0" bIns="0" rtlCol="0" anchor="t"/>
          <a:lstStyle/>
          <a:p>
            <a:pPr marL="0" indent="0" algn="l">
              <a:lnSpc>
                <a:spcPts val="2750"/>
              </a:lnSpc>
              <a:buNone/>
            </a:pPr>
            <a:r>
              <a:rPr lang="en-US" sz="2200" b="1" dirty="0">
                <a:solidFill>
                  <a:srgbClr val="61615C"/>
                </a:solidFill>
                <a:latin typeface="Tomorrow Semi Bold" pitchFamily="34" charset="0"/>
                <a:ea typeface="Tomorrow Semi Bold" pitchFamily="34" charset="-122"/>
                <a:cs typeface="Tomorrow Semi Bold" pitchFamily="34" charset="-120"/>
              </a:rPr>
              <a:t>Power </a:t>
            </a:r>
            <a:r>
              <a:rPr lang="en-US" sz="2200" b="1" dirty="0" smtClean="0">
                <a:solidFill>
                  <a:srgbClr val="61615C"/>
                </a:solidFill>
                <a:latin typeface="Tomorrow Semi Bold" pitchFamily="34" charset="0"/>
                <a:ea typeface="Tomorrow Semi Bold" pitchFamily="34" charset="-122"/>
                <a:cs typeface="Tomorrow Semi Bold" pitchFamily="34" charset="-120"/>
              </a:rPr>
              <a:t>BI</a:t>
            </a:r>
            <a:endParaRPr lang="en-US" sz="2200" b="1" dirty="0"/>
          </a:p>
        </p:txBody>
      </p:sp>
      <p:sp>
        <p:nvSpPr>
          <p:cNvPr id="15" name="Text 7"/>
          <p:cNvSpPr/>
          <p:nvPr/>
        </p:nvSpPr>
        <p:spPr>
          <a:xfrm>
            <a:off x="8857626" y="2514968"/>
            <a:ext cx="3067288" cy="354330"/>
          </a:xfrm>
          <a:prstGeom prst="rect">
            <a:avLst/>
          </a:prstGeom>
          <a:noFill/>
        </p:spPr>
        <p:txBody>
          <a:bodyPr wrap="none" lIns="0" tIns="0" rIns="0" bIns="0" rtlCol="0" anchor="t"/>
          <a:lstStyle/>
          <a:p>
            <a:pPr marL="0" indent="0" algn="l">
              <a:lnSpc>
                <a:spcPts val="2750"/>
              </a:lnSpc>
              <a:buNone/>
            </a:pPr>
            <a:r>
              <a:rPr lang="en-US" sz="2200" b="1" dirty="0">
                <a:solidFill>
                  <a:srgbClr val="61615C"/>
                </a:solidFill>
                <a:latin typeface="Tomorrow Semi Bold" pitchFamily="34" charset="0"/>
                <a:ea typeface="Tomorrow Semi Bold" pitchFamily="34" charset="-122"/>
                <a:cs typeface="Tomorrow Semi Bold" pitchFamily="34" charset="-120"/>
              </a:rPr>
              <a:t>Microsoft PowerPoint</a:t>
            </a:r>
            <a:endParaRPr lang="en-US" sz="2200" b="1" dirty="0"/>
          </a:p>
        </p:txBody>
      </p:sp>
      <p:sp>
        <p:nvSpPr>
          <p:cNvPr id="16" name="Text 0"/>
          <p:cNvSpPr>
            <a:spLocks noGrp="1"/>
          </p:cNvSpPr>
          <p:nvPr>
            <p:ph type="title"/>
          </p:nvPr>
        </p:nvSpPr>
        <p:spPr>
          <a:xfrm>
            <a:off x="793790" y="365125"/>
            <a:ext cx="10560010" cy="850069"/>
          </a:xfrm>
          <a:prstGeom prst="rect">
            <a:avLst/>
          </a:prstGeom>
          <a:noFill/>
        </p:spPr>
        <p:txBody>
          <a:bodyPr wrap="none" lIns="0" tIns="0" rIns="0" bIns="0" rtlCol="0" anchor="t"/>
          <a:lstStyle/>
          <a:p>
            <a:pPr marL="0" indent="0" algn="l">
              <a:lnSpc>
                <a:spcPts val="5550"/>
              </a:lnSpc>
              <a:buNone/>
            </a:pPr>
            <a:r>
              <a:rPr lang="en-US" sz="4450" b="1" dirty="0">
                <a:solidFill>
                  <a:srgbClr val="1D1D1B"/>
                </a:solidFill>
                <a:latin typeface="Tomorrow Semi Bold" pitchFamily="34" charset="0"/>
                <a:ea typeface="Tomorrow Semi Bold" pitchFamily="34" charset="-122"/>
                <a:cs typeface="Tomorrow Semi Bold" pitchFamily="34" charset="-120"/>
              </a:rPr>
              <a:t>Analytical Toolkit</a:t>
            </a:r>
            <a:endParaRPr lang="en-US" sz="445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p:cNvPicPr>
            <a:picLocks noGrp="1" noChangeAspect="1"/>
          </p:cNvPicPr>
          <p:nvPr>
            <p:ph idx="1"/>
          </p:nvPr>
        </p:nvPicPr>
        <p:blipFill>
          <a:blip r:embed="rId2">
            <a:grayscl/>
            <a:extLst>
              <a:ext uri="{28A0092B-C50C-407E-A947-70E740481C1C}">
                <a14:useLocalDpi xmlns:a14="http://schemas.microsoft.com/office/drawing/2010/main" val="0"/>
              </a:ext>
            </a:extLst>
          </a:blip>
          <a:stretch>
            <a:fillRect/>
          </a:stretch>
        </p:blipFill>
        <p:spPr>
          <a:xfrm>
            <a:off x="1699877" y="995423"/>
            <a:ext cx="8881354" cy="3698905"/>
          </a:xfrm>
          <a:prstGeom prst="rect">
            <a:avLst/>
          </a:prstGeom>
        </p:spPr>
      </p:pic>
      <p:sp>
        <p:nvSpPr>
          <p:cNvPr id="5" name="Text 0"/>
          <p:cNvSpPr>
            <a:spLocks noGrp="1"/>
          </p:cNvSpPr>
          <p:nvPr>
            <p:ph type="title"/>
          </p:nvPr>
        </p:nvSpPr>
        <p:spPr>
          <a:xfrm>
            <a:off x="2021812" y="60336"/>
            <a:ext cx="9340597" cy="813063"/>
          </a:xfrm>
          <a:prstGeom prst="rect">
            <a:avLst/>
          </a:prstGeom>
          <a:noFill/>
        </p:spPr>
        <p:txBody>
          <a:bodyPr wrap="none" lIns="0" tIns="0" rIns="0" bIns="0" rtlCol="0" anchor="t"/>
          <a:lstStyle/>
          <a:p>
            <a:pPr marL="0" indent="0" algn="l">
              <a:lnSpc>
                <a:spcPts val="5550"/>
              </a:lnSpc>
              <a:buNone/>
            </a:pPr>
            <a:r>
              <a:rPr lang="en-US" sz="4450" b="1" dirty="0">
                <a:solidFill>
                  <a:srgbClr val="1D1D1B"/>
                </a:solidFill>
                <a:latin typeface="Tomorrow Semi Bold" pitchFamily="34" charset="0"/>
                <a:ea typeface="Tomorrow Semi Bold" pitchFamily="34" charset="-122"/>
                <a:cs typeface="Tomorrow Semi Bold" pitchFamily="34" charset="-120"/>
              </a:rPr>
              <a:t>Data Cleaning &amp; Preprocessing</a:t>
            </a:r>
            <a:endParaRPr lang="en-US" sz="4450" b="1" dirty="0"/>
          </a:p>
        </p:txBody>
      </p:sp>
      <p:sp>
        <p:nvSpPr>
          <p:cNvPr id="6" name="Text 1"/>
          <p:cNvSpPr/>
          <p:nvPr/>
        </p:nvSpPr>
        <p:spPr>
          <a:xfrm>
            <a:off x="1699877" y="4937396"/>
            <a:ext cx="9591869" cy="580316"/>
          </a:xfrm>
          <a:prstGeom prst="rect">
            <a:avLst/>
          </a:prstGeom>
          <a:noFill/>
        </p:spPr>
        <p:txBody>
          <a:bodyPr wrap="square" lIns="0" tIns="0" rIns="0" bIns="0" rtlCol="0" anchor="t"/>
          <a:lstStyle/>
          <a:p>
            <a:pPr marL="0" indent="0" algn="l">
              <a:lnSpc>
                <a:spcPts val="2850"/>
              </a:lnSpc>
              <a:buNone/>
            </a:pPr>
            <a:r>
              <a:rPr lang="en-US" sz="1750" dirty="0">
                <a:solidFill>
                  <a:srgbClr val="61615C"/>
                </a:solidFill>
                <a:latin typeface="Tomorrow" pitchFamily="34" charset="0"/>
                <a:ea typeface="Tomorrow" pitchFamily="34" charset="-122"/>
                <a:cs typeface="Tomorrow" pitchFamily="34" charset="-120"/>
              </a:rPr>
              <a:t>Our rigorous data preprocessing workflow ensures the highest quality analytical foundation. Through systematic identification and resolution of data quality issues, we transformed raw transactional data into a clean, reliable dataset ready for deep analysis and insight generation.</a:t>
            </a:r>
            <a:endParaRPr lang="en-US" sz="17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a:spLocks noGrp="1"/>
          </p:cNvSpPr>
          <p:nvPr>
            <p:ph type="title"/>
          </p:nvPr>
        </p:nvSpPr>
        <p:spPr>
          <a:xfrm>
            <a:off x="3467238" y="307779"/>
            <a:ext cx="6807505" cy="748028"/>
          </a:xfrm>
          <a:prstGeom prst="rect">
            <a:avLst/>
          </a:prstGeom>
          <a:noFill/>
        </p:spPr>
        <p:txBody>
          <a:bodyPr wrap="none" lIns="0" tIns="0" rIns="0" bIns="0" rtlCol="0" anchor="t"/>
          <a:lstStyle/>
          <a:p>
            <a:pPr marL="0" indent="0" algn="l">
              <a:lnSpc>
                <a:spcPts val="4150"/>
              </a:lnSpc>
              <a:buNone/>
            </a:pPr>
            <a:r>
              <a:rPr lang="en-US" sz="3300" dirty="0">
                <a:solidFill>
                  <a:srgbClr val="1D1D1B"/>
                </a:solidFill>
                <a:latin typeface="Tomorrow Semi Bold" pitchFamily="34" charset="0"/>
                <a:ea typeface="Tomorrow Semi Bold" pitchFamily="34" charset="-122"/>
                <a:cs typeface="Tomorrow Semi Bold" pitchFamily="34" charset="-120"/>
              </a:rPr>
              <a:t>Data Quality Issues Identified</a:t>
            </a:r>
            <a:endParaRPr lang="en-US" sz="3300" dirty="0"/>
          </a:p>
        </p:txBody>
      </p:sp>
      <p:sp>
        <p:nvSpPr>
          <p:cNvPr id="6" name="Shape 3"/>
          <p:cNvSpPr/>
          <p:nvPr/>
        </p:nvSpPr>
        <p:spPr>
          <a:xfrm>
            <a:off x="4367871" y="1575508"/>
            <a:ext cx="421366" cy="386189"/>
          </a:xfrm>
          <a:prstGeom prst="roundRect">
            <a:avLst>
              <a:gd name="adj" fmla="val 179188"/>
            </a:avLst>
          </a:prstGeom>
          <a:solidFill>
            <a:srgbClr val="1D1D1B"/>
          </a:solidFill>
        </p:spPr>
      </p:sp>
      <p:sp>
        <p:nvSpPr>
          <p:cNvPr id="7" name="Shape 3"/>
          <p:cNvSpPr/>
          <p:nvPr/>
        </p:nvSpPr>
        <p:spPr>
          <a:xfrm>
            <a:off x="8358317" y="1579820"/>
            <a:ext cx="434221" cy="381878"/>
          </a:xfrm>
          <a:prstGeom prst="roundRect">
            <a:avLst>
              <a:gd name="adj" fmla="val 179188"/>
            </a:avLst>
          </a:prstGeom>
          <a:solidFill>
            <a:srgbClr val="1D1D1B"/>
          </a:solidFill>
        </p:spPr>
      </p:sp>
      <p:sp>
        <p:nvSpPr>
          <p:cNvPr id="8" name="Shape 3"/>
          <p:cNvSpPr/>
          <p:nvPr/>
        </p:nvSpPr>
        <p:spPr>
          <a:xfrm>
            <a:off x="6607402" y="3985319"/>
            <a:ext cx="491418" cy="465495"/>
          </a:xfrm>
          <a:prstGeom prst="roundRect">
            <a:avLst>
              <a:gd name="adj" fmla="val 179188"/>
            </a:avLst>
          </a:prstGeom>
          <a:solidFill>
            <a:srgbClr val="1D1D1B"/>
          </a:solidFill>
        </p:spPr>
      </p:sp>
      <p:sp>
        <p:nvSpPr>
          <p:cNvPr id="9" name="Shape 3"/>
          <p:cNvSpPr>
            <a:spLocks noGrp="1"/>
          </p:cNvSpPr>
          <p:nvPr>
            <p:ph idx="1"/>
          </p:nvPr>
        </p:nvSpPr>
        <p:spPr>
          <a:xfrm>
            <a:off x="3674201" y="1733045"/>
            <a:ext cx="1808706" cy="115432"/>
          </a:xfrm>
          <a:prstGeom prst="roundRect">
            <a:avLst>
              <a:gd name="adj" fmla="val 179188"/>
            </a:avLst>
          </a:prstGeom>
          <a:solidFill>
            <a:srgbClr val="1D1D1B"/>
          </a:solidFill>
        </p:spPr>
        <p:txBody>
          <a:bodyPr>
            <a:normAutofit fontScale="25000" lnSpcReduction="20000"/>
          </a:bodyPr>
          <a:lstStyle/>
          <a:p>
            <a:r>
              <a:rPr lang="en-GB" dirty="0" smtClean="0"/>
              <a:t>                            </a:t>
            </a:r>
            <a:r>
              <a:rPr lang="en-GB" sz="1200" dirty="0" smtClean="0">
                <a:latin typeface="Tomorrow Semi Bold" panose="020B0604020202020204"/>
                <a:ea typeface="Tomorrow Semi Bold" panose="020B0604020202020204"/>
              </a:rPr>
              <a:t>1</a:t>
            </a:r>
            <a:endParaRPr lang="en-GB" dirty="0"/>
          </a:p>
        </p:txBody>
      </p:sp>
      <p:sp>
        <p:nvSpPr>
          <p:cNvPr id="10" name="Text 5"/>
          <p:cNvSpPr/>
          <p:nvPr/>
        </p:nvSpPr>
        <p:spPr>
          <a:xfrm>
            <a:off x="3674201" y="2076050"/>
            <a:ext cx="2126456" cy="190720"/>
          </a:xfrm>
          <a:prstGeom prst="rect">
            <a:avLst/>
          </a:prstGeom>
          <a:noFill/>
        </p:spPr>
        <p:txBody>
          <a:bodyPr wrap="none" lIns="0" tIns="0" rIns="0" bIns="0" rtlCol="0" anchor="t"/>
          <a:lstStyle/>
          <a:p>
            <a:pPr marL="0" indent="0" algn="l">
              <a:lnSpc>
                <a:spcPts val="2050"/>
              </a:lnSpc>
              <a:buNone/>
            </a:pPr>
            <a:r>
              <a:rPr lang="en-US" sz="1650" b="1" dirty="0">
                <a:solidFill>
                  <a:srgbClr val="61615C"/>
                </a:solidFill>
                <a:latin typeface="Tomorrow Semi Bold" pitchFamily="34" charset="0"/>
                <a:ea typeface="Tomorrow Semi Bold" pitchFamily="34" charset="-122"/>
                <a:cs typeface="Tomorrow Semi Bold" pitchFamily="34" charset="-120"/>
              </a:rPr>
              <a:t>Null Cell Detection</a:t>
            </a:r>
            <a:endParaRPr lang="en-US" sz="1650" b="1" dirty="0"/>
          </a:p>
        </p:txBody>
      </p:sp>
      <p:sp>
        <p:nvSpPr>
          <p:cNvPr id="11" name="Text 6"/>
          <p:cNvSpPr/>
          <p:nvPr/>
        </p:nvSpPr>
        <p:spPr>
          <a:xfrm>
            <a:off x="3467238" y="2339192"/>
            <a:ext cx="3140163" cy="1088708"/>
          </a:xfrm>
          <a:prstGeom prst="rect">
            <a:avLst/>
          </a:prstGeom>
          <a:noFill/>
        </p:spPr>
        <p:txBody>
          <a:bodyPr wrap="square" lIns="0" tIns="0" rIns="0" bIns="0" rtlCol="0" anchor="t"/>
          <a:lstStyle/>
          <a:p>
            <a:pPr marL="0" indent="0" algn="l">
              <a:lnSpc>
                <a:spcPts val="2100"/>
              </a:lnSpc>
              <a:buNone/>
            </a:pPr>
            <a:r>
              <a:rPr lang="en-US" sz="1600" b="1" dirty="0">
                <a:solidFill>
                  <a:srgbClr val="61615C"/>
                </a:solidFill>
                <a:latin typeface="Tomorrow" pitchFamily="34" charset="0"/>
                <a:ea typeface="Tomorrow" pitchFamily="34" charset="-122"/>
                <a:cs typeface="Tomorrow" pitchFamily="34" charset="-120"/>
              </a:rPr>
              <a:t>Location:</a:t>
            </a:r>
            <a:r>
              <a:rPr lang="en-US" sz="1600" dirty="0">
                <a:solidFill>
                  <a:srgbClr val="61615C"/>
                </a:solidFill>
                <a:latin typeface="Tomorrow" pitchFamily="34" charset="0"/>
                <a:ea typeface="Tomorrow" pitchFamily="34" charset="-122"/>
                <a:cs typeface="Tomorrow" pitchFamily="34" charset="-120"/>
              </a:rPr>
              <a:t> Cells H90 and I90 contained missing values that required strategic imputation to maintain data integrity and analytical accuracy</a:t>
            </a:r>
            <a:endParaRPr lang="en-US" sz="1600" dirty="0"/>
          </a:p>
        </p:txBody>
      </p:sp>
      <p:sp>
        <p:nvSpPr>
          <p:cNvPr id="12" name="Text 11"/>
          <p:cNvSpPr/>
          <p:nvPr/>
        </p:nvSpPr>
        <p:spPr>
          <a:xfrm>
            <a:off x="7645706" y="2055217"/>
            <a:ext cx="2208252" cy="265747"/>
          </a:xfrm>
          <a:prstGeom prst="rect">
            <a:avLst/>
          </a:prstGeom>
          <a:noFill/>
        </p:spPr>
        <p:txBody>
          <a:bodyPr wrap="none" lIns="0" tIns="0" rIns="0" bIns="0" rtlCol="0" anchor="t"/>
          <a:lstStyle/>
          <a:p>
            <a:pPr marL="0" indent="0" algn="l">
              <a:lnSpc>
                <a:spcPts val="2050"/>
              </a:lnSpc>
              <a:buNone/>
            </a:pPr>
            <a:r>
              <a:rPr lang="en-US" sz="1650" b="1" dirty="0">
                <a:solidFill>
                  <a:srgbClr val="61615C"/>
                </a:solidFill>
                <a:latin typeface="Tomorrow Semi Bold" pitchFamily="34" charset="0"/>
                <a:ea typeface="Tomorrow Semi Bold" pitchFamily="34" charset="-122"/>
                <a:cs typeface="Tomorrow Semi Bold" pitchFamily="34" charset="-120"/>
              </a:rPr>
              <a:t>Outlier Identification</a:t>
            </a:r>
            <a:endParaRPr lang="en-US" sz="1650" b="1" dirty="0"/>
          </a:p>
        </p:txBody>
      </p:sp>
      <p:sp>
        <p:nvSpPr>
          <p:cNvPr id="13" name="Text 12"/>
          <p:cNvSpPr/>
          <p:nvPr/>
        </p:nvSpPr>
        <p:spPr>
          <a:xfrm>
            <a:off x="7487214" y="2331648"/>
            <a:ext cx="3307437" cy="1088708"/>
          </a:xfrm>
          <a:prstGeom prst="rect">
            <a:avLst/>
          </a:prstGeom>
          <a:noFill/>
        </p:spPr>
        <p:txBody>
          <a:bodyPr wrap="square" lIns="0" tIns="0" rIns="0" bIns="0" rtlCol="0" anchor="t"/>
          <a:lstStyle/>
          <a:p>
            <a:pPr marL="0" indent="0" algn="l">
              <a:lnSpc>
                <a:spcPts val="2100"/>
              </a:lnSpc>
              <a:buNone/>
            </a:pPr>
            <a:r>
              <a:rPr lang="en-US" sz="1600" b="1" dirty="0">
                <a:solidFill>
                  <a:srgbClr val="61615C"/>
                </a:solidFill>
                <a:latin typeface="Tomorrow" pitchFamily="34" charset="0"/>
                <a:ea typeface="Tomorrow" pitchFamily="34" charset="-122"/>
                <a:cs typeface="Tomorrow" pitchFamily="34" charset="-120"/>
              </a:rPr>
              <a:t>Cell J90:</a:t>
            </a:r>
            <a:r>
              <a:rPr lang="en-US" sz="1600" dirty="0">
                <a:solidFill>
                  <a:srgbClr val="61615C"/>
                </a:solidFill>
                <a:latin typeface="Tomorrow" pitchFamily="34" charset="0"/>
                <a:ea typeface="Tomorrow" pitchFamily="34" charset="-122"/>
                <a:cs typeface="Tomorrow" pitchFamily="34" charset="-120"/>
              </a:rPr>
              <a:t> The value 89 represented a statistical anomaly, falling significantly outside the normal distribution range observed throughout the column</a:t>
            </a:r>
            <a:endParaRPr lang="en-US" sz="1600" dirty="0"/>
          </a:p>
        </p:txBody>
      </p:sp>
      <p:sp>
        <p:nvSpPr>
          <p:cNvPr id="14" name="Text 17"/>
          <p:cNvSpPr/>
          <p:nvPr/>
        </p:nvSpPr>
        <p:spPr>
          <a:xfrm>
            <a:off x="5769928" y="4567589"/>
            <a:ext cx="2754035" cy="265747"/>
          </a:xfrm>
          <a:prstGeom prst="rect">
            <a:avLst/>
          </a:prstGeom>
          <a:noFill/>
        </p:spPr>
        <p:txBody>
          <a:bodyPr wrap="none" lIns="0" tIns="0" rIns="0" bIns="0" rtlCol="0" anchor="t"/>
          <a:lstStyle/>
          <a:p>
            <a:pPr marL="0" indent="0" algn="l">
              <a:lnSpc>
                <a:spcPts val="2050"/>
              </a:lnSpc>
              <a:buNone/>
            </a:pPr>
            <a:r>
              <a:rPr lang="en-US" sz="1650" b="1" dirty="0">
                <a:solidFill>
                  <a:srgbClr val="61615C"/>
                </a:solidFill>
                <a:latin typeface="Tomorrow Semi Bold" pitchFamily="34" charset="0"/>
                <a:ea typeface="Tomorrow Semi Bold" pitchFamily="34" charset="-122"/>
                <a:cs typeface="Tomorrow Semi Bold" pitchFamily="34" charset="-120"/>
              </a:rPr>
              <a:t>Datatype Inconsistencies</a:t>
            </a:r>
            <a:endParaRPr lang="en-US" sz="1650" b="1" dirty="0"/>
          </a:p>
        </p:txBody>
      </p:sp>
      <p:sp>
        <p:nvSpPr>
          <p:cNvPr id="15" name="Text 18"/>
          <p:cNvSpPr/>
          <p:nvPr/>
        </p:nvSpPr>
        <p:spPr>
          <a:xfrm>
            <a:off x="3623993" y="4834004"/>
            <a:ext cx="7170658" cy="544354"/>
          </a:xfrm>
          <a:prstGeom prst="rect">
            <a:avLst/>
          </a:prstGeom>
          <a:noFill/>
        </p:spPr>
        <p:txBody>
          <a:bodyPr wrap="square" lIns="0" tIns="0" rIns="0" bIns="0" rtlCol="0" anchor="t"/>
          <a:lstStyle/>
          <a:p>
            <a:pPr marL="0" indent="0" algn="l">
              <a:lnSpc>
                <a:spcPts val="2100"/>
              </a:lnSpc>
              <a:buNone/>
            </a:pPr>
            <a:r>
              <a:rPr lang="en-US" sz="1600" b="1" dirty="0">
                <a:solidFill>
                  <a:srgbClr val="61615C"/>
                </a:solidFill>
                <a:latin typeface="Tomorrow" pitchFamily="34" charset="0"/>
                <a:ea typeface="Tomorrow" pitchFamily="34" charset="-122"/>
                <a:cs typeface="Tomorrow" pitchFamily="34" charset="-120"/>
              </a:rPr>
              <a:t>Cells K90, L90, M90:</a:t>
            </a:r>
            <a:r>
              <a:rPr lang="en-US" sz="1600" dirty="0">
                <a:solidFill>
                  <a:srgbClr val="61615C"/>
                </a:solidFill>
                <a:latin typeface="Tomorrow" pitchFamily="34" charset="0"/>
                <a:ea typeface="Tomorrow" pitchFamily="34" charset="-122"/>
                <a:cs typeface="Tomorrow" pitchFamily="34" charset="-120"/>
              </a:rPr>
              <a:t> Mismatched datatypes disrupted pattern consistency and required standardization to align with established column formats</a:t>
            </a:r>
            <a:endParaRPr lang="en-US" sz="1600" dirty="0"/>
          </a:p>
        </p:txBody>
      </p:sp>
      <p:sp>
        <p:nvSpPr>
          <p:cNvPr id="16" name="Text 20"/>
          <p:cNvSpPr/>
          <p:nvPr/>
        </p:nvSpPr>
        <p:spPr>
          <a:xfrm>
            <a:off x="4070358" y="5939154"/>
            <a:ext cx="6833711" cy="544354"/>
          </a:xfrm>
          <a:prstGeom prst="rect">
            <a:avLst/>
          </a:prstGeom>
          <a:noFill/>
        </p:spPr>
        <p:txBody>
          <a:bodyPr wrap="square" lIns="0" tIns="0" rIns="0" bIns="0" rtlCol="0" anchor="t"/>
          <a:lstStyle/>
          <a:p>
            <a:pPr marL="0" indent="0" algn="l">
              <a:lnSpc>
                <a:spcPts val="2100"/>
              </a:lnSpc>
              <a:buNone/>
            </a:pPr>
            <a:r>
              <a:rPr lang="en-US" sz="1600" b="1" dirty="0">
                <a:solidFill>
                  <a:srgbClr val="000000"/>
                </a:solidFill>
                <a:latin typeface="Tomorrow" pitchFamily="34" charset="0"/>
                <a:ea typeface="Tomorrow" pitchFamily="34" charset="-122"/>
                <a:cs typeface="Tomorrow" pitchFamily="34" charset="-120"/>
              </a:rPr>
              <a:t>Row 90 Analysis:</a:t>
            </a:r>
            <a:r>
              <a:rPr lang="en-US" sz="1600" dirty="0">
                <a:solidFill>
                  <a:srgbClr val="000000"/>
                </a:solidFill>
                <a:latin typeface="Tomorrow" pitchFamily="34" charset="0"/>
                <a:ea typeface="Tomorrow" pitchFamily="34" charset="-122"/>
                <a:cs typeface="Tomorrow" pitchFamily="34" charset="-120"/>
              </a:rPr>
              <a:t> Comprehensive review revealed multiple data quality challenges requiring systematic resolution through pattern analysis and statistical methods</a:t>
            </a:r>
            <a:endParaRPr lang="en-US" sz="1600" dirty="0"/>
          </a:p>
        </p:txBody>
      </p:sp>
      <p:pic>
        <p:nvPicPr>
          <p:cNvPr id="17" name="Image 0" descr="preencoded.png"/>
          <p:cNvPicPr>
            <a:picLocks noChangeAspect="1"/>
          </p:cNvPicPr>
          <p:nvPr/>
        </p:nvPicPr>
        <p:blipFill>
          <a:blip r:embed="rId2"/>
          <a:stretch>
            <a:fillRect/>
          </a:stretch>
        </p:blipFill>
        <p:spPr>
          <a:xfrm>
            <a:off x="-1" y="0"/>
            <a:ext cx="3206187" cy="6858000"/>
          </a:xfrm>
          <a:prstGeom prst="rect">
            <a:avLst/>
          </a:prstGeom>
          <a:effectLst>
            <a:softEdge rad="63500"/>
          </a:effectLst>
        </p:spPr>
      </p:pic>
      <p:sp>
        <p:nvSpPr>
          <p:cNvPr id="18" name="Shape 14"/>
          <p:cNvSpPr/>
          <p:nvPr/>
        </p:nvSpPr>
        <p:spPr bwMode="auto">
          <a:xfrm flipV="1">
            <a:off x="7645706" y="1729887"/>
            <a:ext cx="1884171" cy="103171"/>
          </a:xfrm>
          <a:prstGeom prst="roundRect">
            <a:avLst>
              <a:gd name="adj" fmla="val 27907"/>
            </a:avLst>
          </a:prstGeom>
          <a:solidFill>
            <a:srgbClr val="1D1D1B"/>
          </a:solidFill>
        </p:spPr>
      </p:sp>
      <p:sp>
        <p:nvSpPr>
          <p:cNvPr id="20" name="Shape 14"/>
          <p:cNvSpPr/>
          <p:nvPr/>
        </p:nvSpPr>
        <p:spPr bwMode="auto">
          <a:xfrm flipV="1">
            <a:off x="5872609" y="4173299"/>
            <a:ext cx="1961003" cy="99909"/>
          </a:xfrm>
          <a:prstGeom prst="roundRect">
            <a:avLst>
              <a:gd name="adj" fmla="val 27907"/>
            </a:avLst>
          </a:prstGeom>
          <a:solidFill>
            <a:srgbClr val="1D1D1B"/>
          </a:solidFill>
        </p:spPr>
      </p:sp>
      <p:sp>
        <p:nvSpPr>
          <p:cNvPr id="3" name="TextBox 2"/>
          <p:cNvSpPr txBox="1"/>
          <p:nvPr/>
        </p:nvSpPr>
        <p:spPr>
          <a:xfrm>
            <a:off x="4427711" y="1568028"/>
            <a:ext cx="301686" cy="369332"/>
          </a:xfrm>
          <a:prstGeom prst="rect">
            <a:avLst/>
          </a:prstGeom>
          <a:noFill/>
        </p:spPr>
        <p:txBody>
          <a:bodyPr wrap="none" rtlCol="0">
            <a:spAutoFit/>
          </a:bodyPr>
          <a:lstStyle/>
          <a:p>
            <a:r>
              <a:rPr lang="en-US" dirty="0" smtClean="0">
                <a:solidFill>
                  <a:schemeClr val="bg1"/>
                </a:solidFill>
                <a:ea typeface="Tomorrow Semi Bold" panose="020B0604020202020204"/>
              </a:rPr>
              <a:t>1</a:t>
            </a:r>
            <a:endParaRPr lang="en-US" dirty="0">
              <a:solidFill>
                <a:schemeClr val="bg1"/>
              </a:solidFill>
              <a:ea typeface="Tomorrow Semi Bold" panose="020B0604020202020204"/>
            </a:endParaRPr>
          </a:p>
        </p:txBody>
      </p:sp>
      <p:sp>
        <p:nvSpPr>
          <p:cNvPr id="5" name="TextBox 4"/>
          <p:cNvSpPr txBox="1"/>
          <p:nvPr/>
        </p:nvSpPr>
        <p:spPr>
          <a:xfrm>
            <a:off x="8424584" y="1587848"/>
            <a:ext cx="301686" cy="369332"/>
          </a:xfrm>
          <a:prstGeom prst="rect">
            <a:avLst/>
          </a:prstGeom>
          <a:noFill/>
        </p:spPr>
        <p:txBody>
          <a:bodyPr wrap="none" rtlCol="0">
            <a:spAutoFit/>
          </a:bodyPr>
          <a:lstStyle/>
          <a:p>
            <a:r>
              <a:rPr lang="en-US" dirty="0">
                <a:solidFill>
                  <a:schemeClr val="bg1"/>
                </a:solidFill>
              </a:rPr>
              <a:t>2</a:t>
            </a:r>
          </a:p>
        </p:txBody>
      </p:sp>
      <p:sp>
        <p:nvSpPr>
          <p:cNvPr id="19" name="TextBox 18"/>
          <p:cNvSpPr txBox="1"/>
          <p:nvPr/>
        </p:nvSpPr>
        <p:spPr>
          <a:xfrm>
            <a:off x="6702268" y="4033400"/>
            <a:ext cx="301686" cy="369332"/>
          </a:xfrm>
          <a:prstGeom prst="rect">
            <a:avLst/>
          </a:prstGeom>
          <a:noFill/>
        </p:spPr>
        <p:txBody>
          <a:bodyPr wrap="none" rtlCol="0">
            <a:spAutoFit/>
          </a:bodyPr>
          <a:lstStyle/>
          <a:p>
            <a:r>
              <a:rPr lang="en-US" dirty="0" smtClean="0">
                <a:solidFill>
                  <a:schemeClr val="bg1"/>
                </a:solidFill>
              </a:rPr>
              <a:t>3</a:t>
            </a:r>
            <a:endParaRPr lang="en-US"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a:spLocks noGrp="1"/>
          </p:cNvSpPr>
          <p:nvPr>
            <p:ph type="title"/>
          </p:nvPr>
        </p:nvSpPr>
        <p:spPr>
          <a:xfrm>
            <a:off x="838200" y="365125"/>
            <a:ext cx="6309360" cy="837119"/>
          </a:xfrm>
          <a:prstGeom prst="rect">
            <a:avLst/>
          </a:prstGeom>
          <a:noFill/>
        </p:spPr>
        <p:txBody>
          <a:bodyPr wrap="none" lIns="0" tIns="0" rIns="0" bIns="0" rtlCol="0" anchor="t"/>
          <a:lstStyle/>
          <a:p>
            <a:pPr marL="0" indent="0" algn="l">
              <a:lnSpc>
                <a:spcPts val="4450"/>
              </a:lnSpc>
              <a:buNone/>
            </a:pPr>
            <a:r>
              <a:rPr lang="en-US" sz="3550" b="1" dirty="0">
                <a:solidFill>
                  <a:srgbClr val="1D1D1B"/>
                </a:solidFill>
                <a:latin typeface="Tomorrow Semi Bold" pitchFamily="34" charset="0"/>
                <a:ea typeface="Tomorrow Semi Bold" pitchFamily="34" charset="-122"/>
                <a:cs typeface="Tomorrow Semi Bold" pitchFamily="34" charset="-120"/>
              </a:rPr>
              <a:t>Data Cleaning Solutions</a:t>
            </a:r>
            <a:endParaRPr lang="en-US" sz="3550" b="1" dirty="0"/>
          </a:p>
        </p:txBody>
      </p:sp>
      <p:sp>
        <p:nvSpPr>
          <p:cNvPr id="5" name="Text 1"/>
          <p:cNvSpPr>
            <a:spLocks noGrp="1"/>
          </p:cNvSpPr>
          <p:nvPr>
            <p:ph idx="1"/>
          </p:nvPr>
        </p:nvSpPr>
        <p:spPr>
          <a:xfrm>
            <a:off x="116570" y="1185896"/>
            <a:ext cx="2708476" cy="309702"/>
          </a:xfrm>
          <a:prstGeom prst="rect">
            <a:avLst/>
          </a:prstGeom>
          <a:noFill/>
        </p:spPr>
        <p:txBody>
          <a:bodyPr wrap="none" lIns="0" tIns="0" rIns="0" bIns="0" rtlCol="0" anchor="t"/>
          <a:lstStyle/>
          <a:p>
            <a:pPr marL="0" indent="0" algn="l">
              <a:lnSpc>
                <a:spcPts val="2200"/>
              </a:lnSpc>
              <a:buNone/>
            </a:pPr>
            <a:r>
              <a:rPr lang="en-US" sz="1750" b="1" dirty="0">
                <a:solidFill>
                  <a:srgbClr val="61615C"/>
                </a:solidFill>
                <a:latin typeface="Tomorrow Semi Bold" pitchFamily="34" charset="0"/>
                <a:ea typeface="Tomorrow Semi Bold" pitchFamily="34" charset="-122"/>
                <a:cs typeface="Tomorrow Semi Bold" pitchFamily="34" charset="-120"/>
              </a:rPr>
              <a:t>Null Cell Resolution</a:t>
            </a:r>
            <a:endParaRPr lang="en-US" sz="1750" b="1" dirty="0"/>
          </a:p>
        </p:txBody>
      </p:sp>
      <p:sp>
        <p:nvSpPr>
          <p:cNvPr id="6" name="Text 2"/>
          <p:cNvSpPr/>
          <p:nvPr/>
        </p:nvSpPr>
        <p:spPr>
          <a:xfrm>
            <a:off x="116570" y="1495598"/>
            <a:ext cx="10022851" cy="605526"/>
          </a:xfrm>
          <a:prstGeom prst="rect">
            <a:avLst/>
          </a:prstGeom>
          <a:noFill/>
        </p:spPr>
        <p:txBody>
          <a:bodyPr wrap="square" lIns="0" tIns="0" rIns="0" bIns="0" rtlCol="0" anchor="t"/>
          <a:lstStyle/>
          <a:p>
            <a:pPr marL="0" indent="0" algn="l">
              <a:lnSpc>
                <a:spcPts val="2250"/>
              </a:lnSpc>
              <a:buNone/>
            </a:pPr>
            <a:r>
              <a:rPr lang="en-US" sz="1400" b="1" dirty="0">
                <a:solidFill>
                  <a:srgbClr val="61615C"/>
                </a:solidFill>
                <a:latin typeface="Tomorrow" pitchFamily="34" charset="0"/>
                <a:ea typeface="Tomorrow" pitchFamily="34" charset="-122"/>
                <a:cs typeface="Tomorrow" pitchFamily="34" charset="-120"/>
              </a:rPr>
              <a:t>H90:</a:t>
            </a:r>
            <a:r>
              <a:rPr lang="en-US" sz="1400" dirty="0">
                <a:solidFill>
                  <a:srgbClr val="61615C"/>
                </a:solidFill>
                <a:latin typeface="Tomorrow" pitchFamily="34" charset="0"/>
                <a:ea typeface="Tomorrow" pitchFamily="34" charset="-122"/>
                <a:cs typeface="Tomorrow" pitchFamily="34" charset="-120"/>
              </a:rPr>
              <a:t> Applied pattern recognition methodology, analyzing adjacent rows to identify "Chocolate Box, Rose Bouquet" as the appropriate value</a:t>
            </a:r>
            <a:endParaRPr lang="en-US" sz="1400" dirty="0"/>
          </a:p>
        </p:txBody>
      </p:sp>
      <p:sp>
        <p:nvSpPr>
          <p:cNvPr id="7" name="Text 3"/>
          <p:cNvSpPr/>
          <p:nvPr/>
        </p:nvSpPr>
        <p:spPr>
          <a:xfrm>
            <a:off x="116570" y="2095851"/>
            <a:ext cx="8772785" cy="440600"/>
          </a:xfrm>
          <a:prstGeom prst="rect">
            <a:avLst/>
          </a:prstGeom>
          <a:noFill/>
        </p:spPr>
        <p:txBody>
          <a:bodyPr wrap="square" lIns="0" tIns="0" rIns="0" bIns="0" rtlCol="0" anchor="t"/>
          <a:lstStyle/>
          <a:p>
            <a:pPr marL="0" indent="0" algn="l">
              <a:lnSpc>
                <a:spcPts val="2250"/>
              </a:lnSpc>
              <a:buNone/>
            </a:pPr>
            <a:r>
              <a:rPr lang="en-US" sz="1400" b="1" dirty="0">
                <a:solidFill>
                  <a:srgbClr val="61615C"/>
                </a:solidFill>
                <a:latin typeface="Tomorrow" pitchFamily="34" charset="0"/>
                <a:ea typeface="Tomorrow" pitchFamily="34" charset="-122"/>
                <a:cs typeface="Tomorrow" pitchFamily="34" charset="-120"/>
              </a:rPr>
              <a:t>I90:</a:t>
            </a:r>
            <a:r>
              <a:rPr lang="en-US" sz="1400" dirty="0">
                <a:solidFill>
                  <a:srgbClr val="61615C"/>
                </a:solidFill>
                <a:latin typeface="Tomorrow" pitchFamily="34" charset="0"/>
                <a:ea typeface="Tomorrow" pitchFamily="34" charset="-122"/>
                <a:cs typeface="Tomorrow" pitchFamily="34" charset="-120"/>
              </a:rPr>
              <a:t> Implemented statistical imputation using rounded average: </a:t>
            </a:r>
            <a:r>
              <a:rPr lang="en-US" sz="1400" dirty="0">
                <a:solidFill>
                  <a:srgbClr val="61615C"/>
                </a:solidFill>
                <a:highlight>
                  <a:srgbClr val="EFEFEF"/>
                </a:highlight>
                <a:latin typeface="Consolas" panose="020B0609020204030204" pitchFamily="34" charset="0"/>
                <a:ea typeface="Consolas" panose="020B0609020204030204" pitchFamily="34" charset="-122"/>
                <a:cs typeface="Consolas" panose="020B0609020204030204" pitchFamily="34" charset="-120"/>
              </a:rPr>
              <a:t>=ROUNDUP(AVERAGE(I2:I89),0)</a:t>
            </a:r>
            <a:endParaRPr lang="en-US" sz="1400" dirty="0"/>
          </a:p>
        </p:txBody>
      </p:sp>
      <p:sp>
        <p:nvSpPr>
          <p:cNvPr id="8" name="Text 4"/>
          <p:cNvSpPr/>
          <p:nvPr/>
        </p:nvSpPr>
        <p:spPr>
          <a:xfrm>
            <a:off x="116570" y="2564527"/>
            <a:ext cx="2268260" cy="286129"/>
          </a:xfrm>
          <a:prstGeom prst="rect">
            <a:avLst/>
          </a:prstGeom>
          <a:noFill/>
        </p:spPr>
        <p:txBody>
          <a:bodyPr wrap="none" lIns="0" tIns="0" rIns="0" bIns="0" rtlCol="0" anchor="t"/>
          <a:lstStyle/>
          <a:p>
            <a:pPr marL="0" indent="0" algn="l">
              <a:lnSpc>
                <a:spcPts val="2200"/>
              </a:lnSpc>
              <a:buNone/>
            </a:pPr>
            <a:r>
              <a:rPr lang="en-US" sz="1750" b="1" dirty="0">
                <a:solidFill>
                  <a:srgbClr val="61615C"/>
                </a:solidFill>
                <a:latin typeface="Tomorrow Semi Bold" pitchFamily="34" charset="0"/>
                <a:ea typeface="Tomorrow Semi Bold" pitchFamily="34" charset="-122"/>
                <a:cs typeface="Tomorrow Semi Bold" pitchFamily="34" charset="-120"/>
              </a:rPr>
              <a:t>Outlier Correction</a:t>
            </a:r>
            <a:endParaRPr lang="en-US" sz="1750" b="1" dirty="0"/>
          </a:p>
        </p:txBody>
      </p:sp>
      <p:sp>
        <p:nvSpPr>
          <p:cNvPr id="9" name="Text 5"/>
          <p:cNvSpPr/>
          <p:nvPr/>
        </p:nvSpPr>
        <p:spPr>
          <a:xfrm>
            <a:off x="116570" y="2855863"/>
            <a:ext cx="9652462" cy="533136"/>
          </a:xfrm>
          <a:prstGeom prst="rect">
            <a:avLst/>
          </a:prstGeom>
          <a:noFill/>
        </p:spPr>
        <p:txBody>
          <a:bodyPr wrap="square" lIns="0" tIns="0" rIns="0" bIns="0" rtlCol="0" anchor="t"/>
          <a:lstStyle/>
          <a:p>
            <a:pPr marL="0" indent="0" algn="l">
              <a:lnSpc>
                <a:spcPts val="2250"/>
              </a:lnSpc>
              <a:buNone/>
            </a:pPr>
            <a:r>
              <a:rPr lang="en-US" sz="1400" b="1" dirty="0">
                <a:solidFill>
                  <a:srgbClr val="61615C"/>
                </a:solidFill>
                <a:latin typeface="Tomorrow" pitchFamily="34" charset="0"/>
                <a:ea typeface="Tomorrow" pitchFamily="34" charset="-122"/>
                <a:cs typeface="Tomorrow" pitchFamily="34" charset="-120"/>
              </a:rPr>
              <a:t>J</a:t>
            </a:r>
            <a:r>
              <a:rPr lang="en-US" sz="1400" b="1" dirty="0" smtClean="0">
                <a:solidFill>
                  <a:srgbClr val="61615C"/>
                </a:solidFill>
                <a:latin typeface="Tomorrow" pitchFamily="34" charset="0"/>
                <a:ea typeface="Tomorrow" pitchFamily="34" charset="-122"/>
                <a:cs typeface="Tomorrow" pitchFamily="34" charset="-120"/>
              </a:rPr>
              <a:t>90</a:t>
            </a:r>
            <a:r>
              <a:rPr lang="en-US" sz="1400" b="1" dirty="0">
                <a:solidFill>
                  <a:srgbClr val="61615C"/>
                </a:solidFill>
                <a:latin typeface="Tomorrow" pitchFamily="34" charset="0"/>
                <a:ea typeface="Tomorrow" pitchFamily="34" charset="-122"/>
                <a:cs typeface="Tomorrow" pitchFamily="34" charset="-120"/>
              </a:rPr>
              <a:t>:</a:t>
            </a:r>
            <a:r>
              <a:rPr lang="en-US" sz="1400" dirty="0">
                <a:solidFill>
                  <a:srgbClr val="61615C"/>
                </a:solidFill>
                <a:latin typeface="Tomorrow" pitchFamily="34" charset="0"/>
                <a:ea typeface="Tomorrow" pitchFamily="34" charset="-122"/>
                <a:cs typeface="Tomorrow" pitchFamily="34" charset="-120"/>
              </a:rPr>
              <a:t> Recalculated revenue using price-quantity multiplication: </a:t>
            </a:r>
            <a:r>
              <a:rPr lang="en-US" sz="1400" dirty="0">
                <a:solidFill>
                  <a:srgbClr val="61615C"/>
                </a:solidFill>
                <a:highlight>
                  <a:srgbClr val="EFEFEF"/>
                </a:highlight>
                <a:latin typeface="Consolas" panose="020B0609020204030204" pitchFamily="34" charset="0"/>
                <a:ea typeface="Consolas" panose="020B0609020204030204" pitchFamily="34" charset="-122"/>
                <a:cs typeface="Consolas" panose="020B0609020204030204" pitchFamily="34" charset="-120"/>
              </a:rPr>
              <a:t>=D90*I90</a:t>
            </a:r>
            <a:r>
              <a:rPr lang="en-US" sz="1400" dirty="0">
                <a:solidFill>
                  <a:srgbClr val="61615C"/>
                </a:solidFill>
                <a:latin typeface="Tomorrow" pitchFamily="34" charset="0"/>
                <a:ea typeface="Tomorrow" pitchFamily="34" charset="-122"/>
                <a:cs typeface="Tomorrow" pitchFamily="34" charset="-120"/>
              </a:rPr>
              <a:t>, ensuring accurate financial metrics aligned with business logic</a:t>
            </a:r>
            <a:endParaRPr lang="en-US" sz="1400" dirty="0"/>
          </a:p>
        </p:txBody>
      </p:sp>
      <p:sp>
        <p:nvSpPr>
          <p:cNvPr id="10" name="Text 6"/>
          <p:cNvSpPr/>
          <p:nvPr/>
        </p:nvSpPr>
        <p:spPr>
          <a:xfrm>
            <a:off x="116570" y="3624517"/>
            <a:ext cx="4582749" cy="227171"/>
          </a:xfrm>
          <a:prstGeom prst="rect">
            <a:avLst/>
          </a:prstGeom>
          <a:noFill/>
        </p:spPr>
        <p:txBody>
          <a:bodyPr wrap="none" lIns="0" tIns="0" rIns="0" bIns="0" rtlCol="0" anchor="t"/>
          <a:lstStyle/>
          <a:p>
            <a:pPr marL="0" indent="0" algn="l">
              <a:lnSpc>
                <a:spcPts val="2200"/>
              </a:lnSpc>
              <a:buNone/>
            </a:pPr>
            <a:r>
              <a:rPr lang="en-US" sz="1750" b="1" dirty="0">
                <a:solidFill>
                  <a:srgbClr val="61615C"/>
                </a:solidFill>
                <a:latin typeface="Tomorrow Semi Bold" pitchFamily="34" charset="0"/>
                <a:ea typeface="Tomorrow Semi Bold" pitchFamily="34" charset="-122"/>
                <a:cs typeface="Tomorrow Semi Bold" pitchFamily="34" charset="-120"/>
              </a:rPr>
              <a:t>Datatype </a:t>
            </a:r>
            <a:r>
              <a:rPr lang="en-US" sz="1750" b="1" dirty="0" smtClean="0">
                <a:solidFill>
                  <a:srgbClr val="61615C"/>
                </a:solidFill>
                <a:latin typeface="Tomorrow Semi Bold" pitchFamily="34" charset="0"/>
                <a:ea typeface="Tomorrow Semi Bold" pitchFamily="34" charset="-122"/>
                <a:cs typeface="Tomorrow Semi Bold" pitchFamily="34" charset="-120"/>
              </a:rPr>
              <a:t>Standardization</a:t>
            </a:r>
          </a:p>
          <a:p>
            <a:pPr marL="0" indent="0" algn="l">
              <a:lnSpc>
                <a:spcPts val="2200"/>
              </a:lnSpc>
              <a:buNone/>
            </a:pPr>
            <a:endParaRPr lang="en-US" sz="1750" dirty="0"/>
          </a:p>
        </p:txBody>
      </p:sp>
      <p:sp>
        <p:nvSpPr>
          <p:cNvPr id="11" name="Text 7"/>
          <p:cNvSpPr/>
          <p:nvPr/>
        </p:nvSpPr>
        <p:spPr>
          <a:xfrm>
            <a:off x="116569" y="3916439"/>
            <a:ext cx="6467713" cy="290274"/>
          </a:xfrm>
          <a:prstGeom prst="rect">
            <a:avLst/>
          </a:prstGeom>
          <a:noFill/>
        </p:spPr>
        <p:txBody>
          <a:bodyPr wrap="none" lIns="0" tIns="0" rIns="0" bIns="0" rtlCol="0" anchor="t"/>
          <a:lstStyle/>
          <a:p>
            <a:pPr marL="0" indent="0" algn="l">
              <a:lnSpc>
                <a:spcPts val="2250"/>
              </a:lnSpc>
              <a:buNone/>
            </a:pPr>
            <a:r>
              <a:rPr lang="en-US" sz="1400" b="1" dirty="0">
                <a:solidFill>
                  <a:srgbClr val="61615C"/>
                </a:solidFill>
                <a:latin typeface="Tomorrow" pitchFamily="34" charset="0"/>
                <a:ea typeface="Tomorrow" pitchFamily="34" charset="-122"/>
                <a:cs typeface="Tomorrow" pitchFamily="34" charset="-120"/>
              </a:rPr>
              <a:t>K90:</a:t>
            </a:r>
            <a:r>
              <a:rPr lang="en-US" sz="1400" dirty="0">
                <a:solidFill>
                  <a:srgbClr val="61615C"/>
                </a:solidFill>
                <a:latin typeface="Tomorrow" pitchFamily="34" charset="0"/>
                <a:ea typeface="Tomorrow" pitchFamily="34" charset="-122"/>
                <a:cs typeface="Tomorrow" pitchFamily="34" charset="-120"/>
              </a:rPr>
              <a:t> Corrected to "Suburban" following geographic classification patterns</a:t>
            </a:r>
            <a:endParaRPr lang="en-US" sz="1400" dirty="0"/>
          </a:p>
        </p:txBody>
      </p:sp>
      <p:sp>
        <p:nvSpPr>
          <p:cNvPr id="12" name="Text 8"/>
          <p:cNvSpPr/>
          <p:nvPr/>
        </p:nvSpPr>
        <p:spPr>
          <a:xfrm>
            <a:off x="116569" y="4217561"/>
            <a:ext cx="6467713" cy="290274"/>
          </a:xfrm>
          <a:prstGeom prst="rect">
            <a:avLst/>
          </a:prstGeom>
          <a:noFill/>
        </p:spPr>
        <p:txBody>
          <a:bodyPr wrap="none" lIns="0" tIns="0" rIns="0" bIns="0" rtlCol="0" anchor="t"/>
          <a:lstStyle/>
          <a:p>
            <a:pPr marL="0" indent="0" algn="l">
              <a:lnSpc>
                <a:spcPts val="2250"/>
              </a:lnSpc>
              <a:buNone/>
            </a:pPr>
            <a:r>
              <a:rPr lang="en-US" sz="1400" b="1" dirty="0">
                <a:solidFill>
                  <a:srgbClr val="61615C"/>
                </a:solidFill>
                <a:latin typeface="Tomorrow" pitchFamily="34" charset="0"/>
                <a:ea typeface="Tomorrow" pitchFamily="34" charset="-122"/>
                <a:cs typeface="Tomorrow" pitchFamily="34" charset="-120"/>
              </a:rPr>
              <a:t>L90:</a:t>
            </a:r>
            <a:r>
              <a:rPr lang="en-US" sz="1400" dirty="0">
                <a:solidFill>
                  <a:srgbClr val="61615C"/>
                </a:solidFill>
                <a:latin typeface="Tomorrow" pitchFamily="34" charset="0"/>
                <a:ea typeface="Tomorrow" pitchFamily="34" charset="-122"/>
                <a:cs typeface="Tomorrow" pitchFamily="34" charset="-120"/>
              </a:rPr>
              <a:t> Standardized to "Credit Card" matching payment method taxonomy</a:t>
            </a:r>
            <a:endParaRPr lang="en-US" sz="1400" dirty="0"/>
          </a:p>
        </p:txBody>
      </p:sp>
      <p:sp>
        <p:nvSpPr>
          <p:cNvPr id="13" name="Text 9"/>
          <p:cNvSpPr/>
          <p:nvPr/>
        </p:nvSpPr>
        <p:spPr>
          <a:xfrm>
            <a:off x="116569" y="4512224"/>
            <a:ext cx="6467713" cy="290274"/>
          </a:xfrm>
          <a:prstGeom prst="rect">
            <a:avLst/>
          </a:prstGeom>
          <a:noFill/>
        </p:spPr>
        <p:txBody>
          <a:bodyPr wrap="none" lIns="0" tIns="0" rIns="0" bIns="0" rtlCol="0" anchor="t"/>
          <a:lstStyle/>
          <a:p>
            <a:pPr marL="0" indent="0" algn="l">
              <a:lnSpc>
                <a:spcPts val="2250"/>
              </a:lnSpc>
              <a:buNone/>
            </a:pPr>
            <a:r>
              <a:rPr lang="en-US" sz="1400" b="1" dirty="0">
                <a:solidFill>
                  <a:srgbClr val="61615C"/>
                </a:solidFill>
                <a:latin typeface="Tomorrow" pitchFamily="34" charset="0"/>
                <a:ea typeface="Tomorrow" pitchFamily="34" charset="-122"/>
                <a:cs typeface="Tomorrow" pitchFamily="34" charset="-120"/>
              </a:rPr>
              <a:t>M90:</a:t>
            </a:r>
            <a:r>
              <a:rPr lang="en-US" sz="1400" dirty="0">
                <a:solidFill>
                  <a:srgbClr val="61615C"/>
                </a:solidFill>
                <a:latin typeface="Tomorrow" pitchFamily="34" charset="0"/>
                <a:ea typeface="Tomorrow" pitchFamily="34" charset="-122"/>
                <a:cs typeface="Tomorrow" pitchFamily="34" charset="-120"/>
              </a:rPr>
              <a:t> Aligned to "Afternoon" consistent with temporal categorization</a:t>
            </a:r>
            <a:endParaRPr lang="en-US" sz="1400" dirty="0"/>
          </a:p>
        </p:txBody>
      </p:sp>
      <p:pic>
        <p:nvPicPr>
          <p:cNvPr id="2" name="Picture 1"/>
          <p:cNvPicPr>
            <a:picLocks noChangeAspect="1"/>
          </p:cNvPicPr>
          <p:nvPr/>
        </p:nvPicPr>
        <p:blipFill rotWithShape="1">
          <a:blip r:embed="rId2">
            <a:grayscl/>
            <a:extLst>
              <a:ext uri="{28A0092B-C50C-407E-A947-70E740481C1C}">
                <a14:useLocalDpi xmlns:a14="http://schemas.microsoft.com/office/drawing/2010/main" val="0"/>
              </a:ext>
            </a:extLst>
          </a:blip>
          <a:srcRect t="69613"/>
          <a:stretch>
            <a:fillRect/>
          </a:stretch>
        </p:blipFill>
        <p:spPr>
          <a:xfrm>
            <a:off x="706056" y="5124939"/>
            <a:ext cx="10359340" cy="153155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7"/>
            <a:ext cx="3083805" cy="824696"/>
          </a:xfrm>
          <a:noFill/>
        </p:spPr>
        <p:txBody>
          <a:bodyPr>
            <a:normAutofit/>
          </a:bodyPr>
          <a:lstStyle/>
          <a:p>
            <a:r>
              <a:rPr lang="en-GB" sz="3600" b="1" dirty="0">
                <a:latin typeface="Tomorrow Semi Bold" pitchFamily="34" charset="0"/>
              </a:rPr>
              <a:t>L</a:t>
            </a:r>
            <a:r>
              <a:rPr lang="en-GB" sz="3600" b="1" dirty="0" smtClean="0">
                <a:latin typeface="Tomorrow Semi Bold" pitchFamily="34" charset="0"/>
              </a:rPr>
              <a:t>imitations</a:t>
            </a:r>
            <a:endParaRPr lang="en-GB" sz="3600" b="1" dirty="0">
              <a:latin typeface="Tomorrow Semi Bold" pitchFamily="34" charset="0"/>
            </a:endParaRPr>
          </a:p>
        </p:txBody>
      </p:sp>
      <p:sp>
        <p:nvSpPr>
          <p:cNvPr id="3" name="Content Placeholder 2"/>
          <p:cNvSpPr>
            <a:spLocks noGrp="1"/>
          </p:cNvSpPr>
          <p:nvPr>
            <p:ph idx="1"/>
          </p:nvPr>
        </p:nvSpPr>
        <p:spPr>
          <a:xfrm>
            <a:off x="838200" y="1825624"/>
            <a:ext cx="5759370" cy="4209153"/>
          </a:xfrm>
          <a:noFill/>
        </p:spPr>
        <p:txBody>
          <a:bodyPr>
            <a:normAutofit/>
          </a:bodyPr>
          <a:lstStyle/>
          <a:p>
            <a:pPr>
              <a:lnSpc>
                <a:spcPct val="200000"/>
              </a:lnSpc>
            </a:pPr>
            <a:r>
              <a:rPr lang="en-GB" sz="1600" dirty="0" smtClean="0">
                <a:solidFill>
                  <a:schemeClr val="tx1">
                    <a:lumMod val="75000"/>
                    <a:lumOff val="25000"/>
                  </a:schemeClr>
                </a:solidFill>
                <a:latin typeface="Tomorrow" pitchFamily="34" charset="0"/>
              </a:rPr>
              <a:t>The analysis covers only one day(Valentine's day), so it may not fully represent overall customer behaviour.</a:t>
            </a:r>
          </a:p>
          <a:p>
            <a:pPr>
              <a:lnSpc>
                <a:spcPct val="200000"/>
              </a:lnSpc>
            </a:pPr>
            <a:r>
              <a:rPr lang="en-GB" sz="1600" dirty="0" smtClean="0">
                <a:solidFill>
                  <a:schemeClr val="tx1">
                    <a:lumMod val="75000"/>
                    <a:lumOff val="25000"/>
                  </a:schemeClr>
                </a:solidFill>
                <a:latin typeface="Tomorrow" pitchFamily="34" charset="0"/>
              </a:rPr>
              <a:t>External factors like weather, promotions and competitions cannot be fully measured.</a:t>
            </a:r>
          </a:p>
          <a:p>
            <a:pPr>
              <a:lnSpc>
                <a:spcPct val="200000"/>
              </a:lnSpc>
            </a:pPr>
            <a:r>
              <a:rPr lang="en-GB" sz="1600" dirty="0" smtClean="0">
                <a:solidFill>
                  <a:schemeClr val="tx1">
                    <a:lumMod val="75000"/>
                    <a:lumOff val="25000"/>
                  </a:schemeClr>
                </a:solidFill>
                <a:latin typeface="Tomorrow" pitchFamily="34" charset="0"/>
              </a:rPr>
              <a:t>The project depends on the accuracy of the data obtained.</a:t>
            </a:r>
            <a:endParaRPr lang="en-GB" sz="1600" dirty="0">
              <a:solidFill>
                <a:schemeClr val="tx1">
                  <a:lumMod val="75000"/>
                  <a:lumOff val="25000"/>
                </a:schemeClr>
              </a:solidFill>
              <a:latin typeface="Tomorrow" pitchFamily="34" charset="0"/>
            </a:endParaRPr>
          </a:p>
        </p:txBody>
      </p:sp>
      <p:pic>
        <p:nvPicPr>
          <p:cNvPr id="5" name="Picture 4"/>
          <p:cNvPicPr>
            <a:picLocks noChangeAspect="1"/>
          </p:cNvPicPr>
          <p:nvPr/>
        </p:nvPicPr>
        <p:blipFill>
          <a:blip r:embed="rId2"/>
          <a:stretch>
            <a:fillRect/>
          </a:stretch>
        </p:blipFill>
        <p:spPr>
          <a:xfrm>
            <a:off x="7674015" y="6882"/>
            <a:ext cx="4517985" cy="685111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366" y="-110282"/>
            <a:ext cx="5891514" cy="694482"/>
          </a:xfrm>
          <a:noFill/>
        </p:spPr>
        <p:txBody>
          <a:bodyPr>
            <a:normAutofit/>
          </a:bodyPr>
          <a:lstStyle/>
          <a:p>
            <a:pPr algn="ctr"/>
            <a:r>
              <a:rPr lang="en-US" sz="3600" b="1" dirty="0" smtClean="0"/>
              <a:t>Valentine’s Dataset Dashboard</a:t>
            </a:r>
            <a:endParaRPr lang="en-US" sz="36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792" y="495300"/>
            <a:ext cx="11644131" cy="6362700"/>
          </a:xfrm>
          <a:prstGeom prst="rect">
            <a:avLst/>
          </a:prstGeom>
        </p:spPr>
      </p:pic>
      <p:sp>
        <p:nvSpPr>
          <p:cNvPr id="5" name="TextBox 4"/>
          <p:cNvSpPr txBox="1"/>
          <p:nvPr/>
        </p:nvSpPr>
        <p:spPr>
          <a:xfrm>
            <a:off x="4583430" y="3702854"/>
            <a:ext cx="569595" cy="215444"/>
          </a:xfrm>
          <a:prstGeom prst="rect">
            <a:avLst/>
          </a:prstGeom>
          <a:solidFill>
            <a:schemeClr val="bg1"/>
          </a:solidFill>
        </p:spPr>
        <p:txBody>
          <a:bodyPr wrap="square" rtlCol="0">
            <a:spAutoFit/>
          </a:bodyPr>
          <a:lstStyle/>
          <a:p>
            <a:r>
              <a:rPr lang="en-US" sz="800" b="1" dirty="0" smtClean="0">
                <a:solidFill>
                  <a:schemeClr val="tx1">
                    <a:lumMod val="50000"/>
                    <a:lumOff val="50000"/>
                  </a:schemeClr>
                </a:solidFill>
                <a:effectLst>
                  <a:outerShdw blurRad="38100" dist="38100" dir="2700000" algn="tl">
                    <a:srgbClr val="000000">
                      <a:alpha val="43137"/>
                    </a:srgbClr>
                  </a:outerShdw>
                </a:effectLst>
              </a:rPr>
              <a:t>(18.24%)</a:t>
            </a:r>
            <a:endParaRPr lang="en-US" sz="800" b="1" dirty="0">
              <a:solidFill>
                <a:schemeClr val="tx1">
                  <a:lumMod val="50000"/>
                  <a:lumOff val="50000"/>
                </a:schemeClr>
              </a:solidFill>
              <a:effectLst>
                <a:outerShdw blurRad="38100" dist="38100" dir="2700000" algn="tl">
                  <a:srgbClr val="000000">
                    <a:alpha val="43137"/>
                  </a:srgbClr>
                </a:outerShdw>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105400" cy="785249"/>
          </a:xfrm>
          <a:noFill/>
        </p:spPr>
        <p:txBody>
          <a:bodyPr>
            <a:normAutofit fontScale="90000"/>
          </a:bodyPr>
          <a:lstStyle/>
          <a:p>
            <a:r>
              <a:rPr lang="en-US" dirty="0" smtClean="0">
                <a:latin typeface="Tomorrow Semi Bold" pitchFamily="34" charset="0"/>
              </a:rPr>
              <a:t>Analysis and Insights</a:t>
            </a:r>
            <a:endParaRPr lang="en-US" dirty="0">
              <a:latin typeface="Tomorrow Semi Bold" pitchFamily="34" charset="0"/>
            </a:endParaRPr>
          </a:p>
        </p:txBody>
      </p:sp>
      <p:sp>
        <p:nvSpPr>
          <p:cNvPr id="3" name="Content Placeholder 2"/>
          <p:cNvSpPr>
            <a:spLocks noGrp="1"/>
          </p:cNvSpPr>
          <p:nvPr>
            <p:ph idx="1"/>
          </p:nvPr>
        </p:nvSpPr>
        <p:spPr>
          <a:xfrm>
            <a:off x="838200" y="1253612"/>
            <a:ext cx="6688873" cy="5604388"/>
          </a:xfrm>
          <a:noFill/>
        </p:spPr>
        <p:txBody>
          <a:bodyPr>
            <a:normAutofit/>
          </a:bodyPr>
          <a:lstStyle/>
          <a:p>
            <a:r>
              <a:rPr lang="en-US" sz="1800" b="1" dirty="0" smtClean="0">
                <a:solidFill>
                  <a:schemeClr val="tx1">
                    <a:lumMod val="65000"/>
                    <a:lumOff val="35000"/>
                  </a:schemeClr>
                </a:solidFill>
                <a:latin typeface="Tomorrow Semi Bold" pitchFamily="34" charset="0"/>
              </a:rPr>
              <a:t>Overview of Valentine’s Day Sales Dashboard</a:t>
            </a: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Total </a:t>
            </a:r>
            <a:r>
              <a:rPr lang="en-US" sz="1600" dirty="0">
                <a:solidFill>
                  <a:schemeClr val="tx1">
                    <a:lumMod val="65000"/>
                    <a:lumOff val="35000"/>
                  </a:schemeClr>
                </a:solidFill>
                <a:latin typeface="Tomorrow" pitchFamily="34" charset="0"/>
              </a:rPr>
              <a:t>Sales: </a:t>
            </a:r>
            <a:r>
              <a:rPr lang="en-US" sz="1600" dirty="0" smtClean="0">
                <a:solidFill>
                  <a:schemeClr val="tx1">
                    <a:lumMod val="65000"/>
                    <a:lumOff val="35000"/>
                  </a:schemeClr>
                </a:solidFill>
                <a:latin typeface="Tomorrow" pitchFamily="34" charset="0"/>
              </a:rPr>
              <a:t>$3.18K.</a:t>
            </a: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Total </a:t>
            </a:r>
            <a:r>
              <a:rPr lang="en-US" sz="1600" dirty="0">
                <a:solidFill>
                  <a:schemeClr val="tx1">
                    <a:lumMod val="65000"/>
                    <a:lumOff val="35000"/>
                  </a:schemeClr>
                </a:solidFill>
                <a:latin typeface="Tomorrow" pitchFamily="34" charset="0"/>
              </a:rPr>
              <a:t>Orders: </a:t>
            </a:r>
            <a:r>
              <a:rPr lang="en-US" sz="1600" dirty="0" smtClean="0">
                <a:solidFill>
                  <a:schemeClr val="tx1">
                    <a:lumMod val="65000"/>
                    <a:lumOff val="35000"/>
                  </a:schemeClr>
                </a:solidFill>
                <a:latin typeface="Tomorrow" pitchFamily="34" charset="0"/>
              </a:rPr>
              <a:t>140 units.</a:t>
            </a: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We notice strong </a:t>
            </a:r>
            <a:r>
              <a:rPr lang="en-US" sz="1600" dirty="0">
                <a:solidFill>
                  <a:schemeClr val="tx1">
                    <a:lumMod val="65000"/>
                    <a:lumOff val="35000"/>
                  </a:schemeClr>
                </a:solidFill>
                <a:latin typeface="Tomorrow" pitchFamily="34" charset="0"/>
              </a:rPr>
              <a:t>customer engagement during the </a:t>
            </a:r>
            <a:r>
              <a:rPr lang="en-US" sz="1600" dirty="0" smtClean="0">
                <a:solidFill>
                  <a:schemeClr val="tx1">
                    <a:lumMod val="65000"/>
                    <a:lumOff val="35000"/>
                  </a:schemeClr>
                </a:solidFill>
                <a:latin typeface="Tomorrow" pitchFamily="34" charset="0"/>
              </a:rPr>
              <a:t>Valentine’s season.</a:t>
            </a:r>
          </a:p>
          <a:p>
            <a:pPr marL="457200" lvl="1" indent="0">
              <a:buNone/>
            </a:pPr>
            <a:endParaRPr lang="en-US" sz="1600" dirty="0">
              <a:solidFill>
                <a:schemeClr val="tx1">
                  <a:lumMod val="65000"/>
                  <a:lumOff val="35000"/>
                </a:schemeClr>
              </a:solidFill>
              <a:latin typeface="Tomorrow" pitchFamily="34" charset="0"/>
            </a:endParaRPr>
          </a:p>
          <a:p>
            <a:r>
              <a:rPr lang="en-US" sz="1800" b="1" dirty="0" smtClean="0">
                <a:solidFill>
                  <a:schemeClr val="tx1">
                    <a:lumMod val="65000"/>
                    <a:lumOff val="35000"/>
                  </a:schemeClr>
                </a:solidFill>
                <a:latin typeface="Tomorrow Semi Bold" pitchFamily="34" charset="0"/>
              </a:rPr>
              <a:t>Customer Analysis</a:t>
            </a:r>
          </a:p>
          <a:p>
            <a:pPr lvl="1">
              <a:buFont typeface="Wingdings" panose="05000000000000000000" pitchFamily="2" charset="2"/>
              <a:buChar char="v"/>
            </a:pPr>
            <a:r>
              <a:rPr lang="en-US" sz="1600" dirty="0">
                <a:solidFill>
                  <a:schemeClr val="tx1">
                    <a:lumMod val="65000"/>
                    <a:lumOff val="35000"/>
                  </a:schemeClr>
                </a:solidFill>
                <a:latin typeface="Tomorrow" pitchFamily="34" charset="0"/>
              </a:rPr>
              <a:t>Gold and Platinum members made most </a:t>
            </a:r>
            <a:r>
              <a:rPr lang="en-US" sz="1600" dirty="0" smtClean="0">
                <a:solidFill>
                  <a:schemeClr val="tx1">
                    <a:lumMod val="65000"/>
                    <a:lumOff val="35000"/>
                  </a:schemeClr>
                </a:solidFill>
                <a:latin typeface="Tomorrow" pitchFamily="34" charset="0"/>
              </a:rPr>
              <a:t>sales.  </a:t>
            </a:r>
            <a:endParaRPr lang="en-US" sz="1600" dirty="0">
              <a:solidFill>
                <a:schemeClr val="tx1">
                  <a:lumMod val="65000"/>
                  <a:lumOff val="35000"/>
                </a:schemeClr>
              </a:solidFill>
              <a:latin typeface="Tomorrow" pitchFamily="34" charset="0"/>
            </a:endParaRP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Equal </a:t>
            </a:r>
            <a:r>
              <a:rPr lang="en-US" sz="1600" dirty="0">
                <a:solidFill>
                  <a:schemeClr val="tx1">
                    <a:lumMod val="65000"/>
                    <a:lumOff val="35000"/>
                  </a:schemeClr>
                </a:solidFill>
                <a:latin typeface="Tomorrow" pitchFamily="34" charset="0"/>
              </a:rPr>
              <a:t>buying from men and </a:t>
            </a:r>
            <a:r>
              <a:rPr lang="en-US" sz="1600" dirty="0" smtClean="0">
                <a:solidFill>
                  <a:schemeClr val="tx1">
                    <a:lumMod val="65000"/>
                    <a:lumOff val="35000"/>
                  </a:schemeClr>
                </a:solidFill>
                <a:latin typeface="Tomorrow" pitchFamily="34" charset="0"/>
              </a:rPr>
              <a:t>women.</a:t>
            </a:r>
          </a:p>
          <a:p>
            <a:pPr marL="457200" lvl="1" indent="0">
              <a:buNone/>
            </a:pPr>
            <a:endParaRPr lang="en-US" sz="1600" dirty="0" smtClean="0">
              <a:latin typeface="Tomorrow" pitchFamily="34" charset="0"/>
            </a:endParaRPr>
          </a:p>
          <a:p>
            <a:r>
              <a:rPr lang="en-US" sz="1800" b="1" dirty="0" smtClean="0">
                <a:solidFill>
                  <a:schemeClr val="tx1">
                    <a:lumMod val="65000"/>
                    <a:lumOff val="35000"/>
                  </a:schemeClr>
                </a:solidFill>
                <a:latin typeface="Tomorrow Semi Bold" pitchFamily="34" charset="0"/>
              </a:rPr>
              <a:t>Product Performance</a:t>
            </a:r>
          </a:p>
          <a:p>
            <a:pPr lvl="1">
              <a:buFont typeface="Wingdings" panose="05000000000000000000" pitchFamily="2" charset="2"/>
              <a:buChar char="v"/>
            </a:pPr>
            <a:r>
              <a:rPr lang="en-US" sz="1600" dirty="0">
                <a:solidFill>
                  <a:schemeClr val="tx1">
                    <a:lumMod val="65000"/>
                    <a:lumOff val="35000"/>
                  </a:schemeClr>
                </a:solidFill>
                <a:latin typeface="Tomorrow" pitchFamily="34" charset="0"/>
              </a:rPr>
              <a:t>Perfume and chocolate boxes </a:t>
            </a:r>
            <a:r>
              <a:rPr lang="en-US" sz="1600" dirty="0" smtClean="0">
                <a:solidFill>
                  <a:schemeClr val="tx1">
                    <a:lumMod val="65000"/>
                    <a:lumOff val="35000"/>
                  </a:schemeClr>
                </a:solidFill>
                <a:latin typeface="Tomorrow" pitchFamily="34" charset="0"/>
              </a:rPr>
              <a:t>made up over 60% of sales.</a:t>
            </a: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Teddy </a:t>
            </a:r>
            <a:r>
              <a:rPr lang="en-US" sz="1600" dirty="0">
                <a:solidFill>
                  <a:schemeClr val="tx1">
                    <a:lumMod val="65000"/>
                    <a:lumOff val="35000"/>
                  </a:schemeClr>
                </a:solidFill>
                <a:latin typeface="Tomorrow" pitchFamily="34" charset="0"/>
              </a:rPr>
              <a:t>bears and roses had moderate </a:t>
            </a:r>
            <a:r>
              <a:rPr lang="en-US" sz="1600" dirty="0" smtClean="0">
                <a:solidFill>
                  <a:schemeClr val="tx1">
                    <a:lumMod val="65000"/>
                    <a:lumOff val="35000"/>
                  </a:schemeClr>
                </a:solidFill>
                <a:latin typeface="Tomorrow" pitchFamily="34" charset="0"/>
              </a:rPr>
              <a:t>sales.  </a:t>
            </a:r>
            <a:endParaRPr lang="en-US" sz="1600" dirty="0">
              <a:solidFill>
                <a:schemeClr val="tx1">
                  <a:lumMod val="65000"/>
                  <a:lumOff val="35000"/>
                </a:schemeClr>
              </a:solidFill>
              <a:latin typeface="Tomorrow" pitchFamily="34" charset="0"/>
            </a:endParaRP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Top </a:t>
            </a:r>
            <a:r>
              <a:rPr lang="en-US" sz="1600" dirty="0">
                <a:solidFill>
                  <a:schemeClr val="tx1">
                    <a:lumMod val="65000"/>
                    <a:lumOff val="35000"/>
                  </a:schemeClr>
                </a:solidFill>
                <a:latin typeface="Tomorrow" pitchFamily="34" charset="0"/>
              </a:rPr>
              <a:t>products match Valentine’s gift </a:t>
            </a:r>
            <a:r>
              <a:rPr lang="en-US" sz="1600" dirty="0" smtClean="0">
                <a:solidFill>
                  <a:schemeClr val="tx1">
                    <a:lumMod val="65000"/>
                    <a:lumOff val="35000"/>
                  </a:schemeClr>
                </a:solidFill>
                <a:latin typeface="Tomorrow" pitchFamily="34" charset="0"/>
              </a:rPr>
              <a:t>trends.</a:t>
            </a:r>
          </a:p>
          <a:p>
            <a:pPr lvl="1">
              <a:buFont typeface="Wingdings" panose="05000000000000000000" pitchFamily="2" charset="2"/>
              <a:buChar char="v"/>
            </a:pPr>
            <a:endParaRPr lang="en-US" dirty="0"/>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colorTemperature colorTemp="6614"/>
                    </a14:imgEffect>
                    <a14:imgEffect>
                      <a14:saturation sat="62000"/>
                    </a14:imgEffect>
                  </a14:imgLayer>
                </a14:imgProps>
              </a:ext>
              <a:ext uri="{28A0092B-C50C-407E-A947-70E740481C1C}">
                <a14:useLocalDpi xmlns:a14="http://schemas.microsoft.com/office/drawing/2010/main" val="0"/>
              </a:ext>
            </a:extLst>
          </a:blip>
          <a:stretch>
            <a:fillRect/>
          </a:stretch>
        </p:blipFill>
        <p:spPr>
          <a:xfrm>
            <a:off x="7469469" y="-1"/>
            <a:ext cx="4722530" cy="6858001"/>
          </a:xfrm>
          <a:prstGeom prst="rect">
            <a:avLst/>
          </a:prstGeom>
          <a:effectLst>
            <a:softEdge rad="63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1000"/>
                                        <p:tgtEl>
                                          <p:spTgt spid="3">
                                            <p:txEl>
                                              <p:pRg st="2" end="2"/>
                                            </p:txEl>
                                          </p:spTgt>
                                        </p:tgtEl>
                                      </p:cBhvr>
                                    </p:animEffect>
                                    <p:anim calcmode="lin" valueType="num">
                                      <p:cBhvr>
                                        <p:cTn id="2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1000"/>
                                        <p:tgtEl>
                                          <p:spTgt spid="3">
                                            <p:txEl>
                                              <p:pRg st="7" end="7"/>
                                            </p:txEl>
                                          </p:spTgt>
                                        </p:tgtEl>
                                      </p:cBhvr>
                                    </p:animEffect>
                                    <p:anim calcmode="lin" valueType="num">
                                      <p:cBhvr>
                                        <p:cTn id="4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Effect transition="in" filter="fade">
                                      <p:cBhvr>
                                        <p:cTn id="51" dur="1000"/>
                                        <p:tgtEl>
                                          <p:spTgt spid="3">
                                            <p:txEl>
                                              <p:pRg st="9" end="9"/>
                                            </p:txEl>
                                          </p:spTgt>
                                        </p:tgtEl>
                                      </p:cBhvr>
                                    </p:animEffect>
                                    <p:anim calcmode="lin" valueType="num">
                                      <p:cBhvr>
                                        <p:cTn id="5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
                                            <p:txEl>
                                              <p:pRg st="10" end="10"/>
                                            </p:txEl>
                                          </p:spTgt>
                                        </p:tgtEl>
                                        <p:attrNameLst>
                                          <p:attrName>style.visibility</p:attrName>
                                        </p:attrNameLst>
                                      </p:cBhvr>
                                      <p:to>
                                        <p:strVal val="visible"/>
                                      </p:to>
                                    </p:set>
                                    <p:animEffect transition="in" filter="fade">
                                      <p:cBhvr>
                                        <p:cTn id="56" dur="1000"/>
                                        <p:tgtEl>
                                          <p:spTgt spid="3">
                                            <p:txEl>
                                              <p:pRg st="10" end="10"/>
                                            </p:txEl>
                                          </p:spTgt>
                                        </p:tgtEl>
                                      </p:cBhvr>
                                    </p:animEffect>
                                    <p:anim calcmode="lin" valueType="num">
                                      <p:cBhvr>
                                        <p:cTn id="57"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Effect transition="in" filter="fade">
                                      <p:cBhvr>
                                        <p:cTn id="61" dur="1000"/>
                                        <p:tgtEl>
                                          <p:spTgt spid="3">
                                            <p:txEl>
                                              <p:pRg st="11" end="11"/>
                                            </p:txEl>
                                          </p:spTgt>
                                        </p:tgtEl>
                                      </p:cBhvr>
                                    </p:animEffect>
                                    <p:anim calcmode="lin" valueType="num">
                                      <p:cBhvr>
                                        <p:cTn id="62"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3">
                                            <p:txEl>
                                              <p:pRg st="12" end="12"/>
                                            </p:txEl>
                                          </p:spTgt>
                                        </p:tgtEl>
                                        <p:attrNameLst>
                                          <p:attrName>style.visibility</p:attrName>
                                        </p:attrNameLst>
                                      </p:cBhvr>
                                      <p:to>
                                        <p:strVal val="visible"/>
                                      </p:to>
                                    </p:set>
                                    <p:animEffect transition="in" filter="fade">
                                      <p:cBhvr>
                                        <p:cTn id="66" dur="1000"/>
                                        <p:tgtEl>
                                          <p:spTgt spid="3">
                                            <p:txEl>
                                              <p:pRg st="12" end="12"/>
                                            </p:txEl>
                                          </p:spTgt>
                                        </p:tgtEl>
                                      </p:cBhvr>
                                    </p:animEffect>
                                    <p:anim calcmode="lin" valueType="num">
                                      <p:cBhvr>
                                        <p:cTn id="67"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173396"/>
            <a:ext cx="6500148" cy="903049"/>
          </a:xfrm>
          <a:noFill/>
        </p:spPr>
        <p:txBody>
          <a:bodyPr>
            <a:normAutofit fontScale="90000"/>
          </a:bodyPr>
          <a:lstStyle/>
          <a:p>
            <a:r>
              <a:rPr lang="en-US" b="1" dirty="0" smtClean="0">
                <a:latin typeface="Tomorrow Semi Bold" pitchFamily="34" charset="0"/>
              </a:rPr>
              <a:t>Analysis and Insights contd</a:t>
            </a:r>
            <a:r>
              <a:rPr lang="en-US" b="1" dirty="0" smtClean="0"/>
              <a:t>.</a:t>
            </a:r>
            <a:endParaRPr lang="en-US" b="1" dirty="0"/>
          </a:p>
        </p:txBody>
      </p:sp>
      <p:sp>
        <p:nvSpPr>
          <p:cNvPr id="3" name="Content Placeholder 2"/>
          <p:cNvSpPr>
            <a:spLocks noGrp="1"/>
          </p:cNvSpPr>
          <p:nvPr>
            <p:ph idx="1"/>
          </p:nvPr>
        </p:nvSpPr>
        <p:spPr>
          <a:xfrm>
            <a:off x="838201" y="1149720"/>
            <a:ext cx="6500147" cy="5681302"/>
          </a:xfrm>
          <a:noFill/>
        </p:spPr>
        <p:txBody>
          <a:bodyPr>
            <a:normAutofit/>
          </a:bodyPr>
          <a:lstStyle/>
          <a:p>
            <a:r>
              <a:rPr lang="en-US" sz="1800" b="1" dirty="0">
                <a:solidFill>
                  <a:schemeClr val="tx1">
                    <a:lumMod val="75000"/>
                    <a:lumOff val="25000"/>
                  </a:schemeClr>
                </a:solidFill>
                <a:latin typeface="Tomorrow Semi Bold" pitchFamily="34" charset="0"/>
              </a:rPr>
              <a:t>Location</a:t>
            </a:r>
            <a:r>
              <a:rPr lang="en-US" sz="1800" dirty="0"/>
              <a:t> </a:t>
            </a:r>
            <a:r>
              <a:rPr lang="en-US" sz="1800" dirty="0" smtClean="0"/>
              <a:t> </a:t>
            </a:r>
            <a:endParaRPr lang="en-US" sz="1800" dirty="0"/>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Most </a:t>
            </a:r>
            <a:r>
              <a:rPr lang="en-US" sz="1600" dirty="0">
                <a:solidFill>
                  <a:schemeClr val="tx1">
                    <a:lumMod val="65000"/>
                    <a:lumOff val="35000"/>
                  </a:schemeClr>
                </a:solidFill>
                <a:latin typeface="Tomorrow" pitchFamily="34" charset="0"/>
              </a:rPr>
              <a:t>orders from urban areas  </a:t>
            </a: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Suburban </a:t>
            </a:r>
            <a:r>
              <a:rPr lang="en-US" sz="1600" dirty="0">
                <a:solidFill>
                  <a:schemeClr val="tx1">
                    <a:lumMod val="65000"/>
                    <a:lumOff val="35000"/>
                  </a:schemeClr>
                </a:solidFill>
                <a:latin typeface="Tomorrow" pitchFamily="34" charset="0"/>
              </a:rPr>
              <a:t>next; rural lowest  </a:t>
            </a: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Sales </a:t>
            </a:r>
            <a:r>
              <a:rPr lang="en-US" sz="1600" dirty="0">
                <a:solidFill>
                  <a:schemeClr val="tx1">
                    <a:lumMod val="65000"/>
                    <a:lumOff val="35000"/>
                  </a:schemeClr>
                </a:solidFill>
                <a:latin typeface="Tomorrow" pitchFamily="34" charset="0"/>
              </a:rPr>
              <a:t>drop linked to </a:t>
            </a:r>
            <a:r>
              <a:rPr lang="en-US" sz="1600" dirty="0" smtClean="0">
                <a:solidFill>
                  <a:schemeClr val="tx1">
                    <a:lumMod val="65000"/>
                    <a:lumOff val="35000"/>
                  </a:schemeClr>
                </a:solidFill>
                <a:latin typeface="Tomorrow" pitchFamily="34" charset="0"/>
              </a:rPr>
              <a:t>accessibility to the customer</a:t>
            </a:r>
          </a:p>
          <a:p>
            <a:pPr marL="457200" lvl="1" indent="0">
              <a:buNone/>
            </a:pPr>
            <a:endParaRPr lang="en-US" sz="1600" dirty="0" smtClean="0">
              <a:solidFill>
                <a:schemeClr val="tx1">
                  <a:lumMod val="65000"/>
                  <a:lumOff val="35000"/>
                </a:schemeClr>
              </a:solidFill>
              <a:latin typeface="Tomorrow" pitchFamily="34" charset="0"/>
            </a:endParaRPr>
          </a:p>
          <a:p>
            <a:r>
              <a:rPr lang="en-US" sz="1800" b="1" dirty="0">
                <a:latin typeface="Tomorrow Semi Bold" pitchFamily="34" charset="0"/>
              </a:rPr>
              <a:t>Payment Methods</a:t>
            </a:r>
            <a:r>
              <a:rPr lang="en-US" sz="1800" dirty="0">
                <a:latin typeface="Tomorrow Semi Bold" pitchFamily="34" charset="0"/>
              </a:rPr>
              <a:t>  </a:t>
            </a:r>
            <a:endParaRPr lang="en-US" sz="1800" dirty="0" smtClean="0">
              <a:latin typeface="Tomorrow Semi Bold" pitchFamily="34" charset="0"/>
            </a:endParaRP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Debit </a:t>
            </a:r>
            <a:r>
              <a:rPr lang="en-US" sz="1600" dirty="0">
                <a:solidFill>
                  <a:schemeClr val="tx1">
                    <a:lumMod val="65000"/>
                    <a:lumOff val="35000"/>
                  </a:schemeClr>
                </a:solidFill>
                <a:latin typeface="Tomorrow" pitchFamily="34" charset="0"/>
              </a:rPr>
              <a:t>and credit cards </a:t>
            </a:r>
            <a:r>
              <a:rPr lang="en-US" sz="1600" dirty="0" smtClean="0">
                <a:solidFill>
                  <a:schemeClr val="tx1">
                    <a:lumMod val="65000"/>
                    <a:lumOff val="35000"/>
                  </a:schemeClr>
                </a:solidFill>
                <a:latin typeface="Tomorrow" pitchFamily="34" charset="0"/>
              </a:rPr>
              <a:t>are used </a:t>
            </a:r>
            <a:r>
              <a:rPr lang="en-US" sz="1600" dirty="0">
                <a:solidFill>
                  <a:schemeClr val="tx1">
                    <a:lumMod val="65000"/>
                    <a:lumOff val="35000"/>
                  </a:schemeClr>
                </a:solidFill>
                <a:latin typeface="Tomorrow" pitchFamily="34" charset="0"/>
              </a:rPr>
              <a:t>most  </a:t>
            </a: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Cash </a:t>
            </a:r>
            <a:r>
              <a:rPr lang="en-US" sz="1600" dirty="0">
                <a:solidFill>
                  <a:schemeClr val="tx1">
                    <a:lumMod val="65000"/>
                    <a:lumOff val="35000"/>
                  </a:schemeClr>
                </a:solidFill>
                <a:latin typeface="Tomorrow" pitchFamily="34" charset="0"/>
              </a:rPr>
              <a:t>least used  </a:t>
            </a: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Shows a preference </a:t>
            </a:r>
            <a:r>
              <a:rPr lang="en-US" sz="1600" dirty="0">
                <a:solidFill>
                  <a:schemeClr val="tx1">
                    <a:lumMod val="65000"/>
                    <a:lumOff val="35000"/>
                  </a:schemeClr>
                </a:solidFill>
                <a:latin typeface="Tomorrow" pitchFamily="34" charset="0"/>
              </a:rPr>
              <a:t>for digital </a:t>
            </a:r>
            <a:r>
              <a:rPr lang="en-US" sz="1600" dirty="0" smtClean="0">
                <a:solidFill>
                  <a:schemeClr val="tx1">
                    <a:lumMod val="65000"/>
                    <a:lumOff val="35000"/>
                  </a:schemeClr>
                </a:solidFill>
                <a:latin typeface="Tomorrow" pitchFamily="34" charset="0"/>
              </a:rPr>
              <a:t>payments</a:t>
            </a:r>
          </a:p>
          <a:p>
            <a:pPr marL="457200" lvl="1" indent="0">
              <a:buNone/>
            </a:pPr>
            <a:endParaRPr lang="en-US" sz="1600" dirty="0" smtClean="0">
              <a:solidFill>
                <a:schemeClr val="tx1">
                  <a:lumMod val="65000"/>
                  <a:lumOff val="35000"/>
                </a:schemeClr>
              </a:solidFill>
              <a:latin typeface="Tomorrow" pitchFamily="34" charset="0"/>
            </a:endParaRPr>
          </a:p>
          <a:p>
            <a:r>
              <a:rPr lang="en-US" sz="1800" b="1" dirty="0">
                <a:latin typeface="Tomorrow Semi Bold" pitchFamily="34" charset="0"/>
              </a:rPr>
              <a:t>Time-of-Day Sales </a:t>
            </a:r>
            <a:r>
              <a:rPr lang="en-US" sz="1800" dirty="0">
                <a:latin typeface="Tomorrow Semi Bold" pitchFamily="34" charset="0"/>
              </a:rPr>
              <a:t> </a:t>
            </a: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Evening </a:t>
            </a:r>
            <a:r>
              <a:rPr lang="en-US" sz="1600" dirty="0">
                <a:solidFill>
                  <a:schemeClr val="tx1">
                    <a:lumMod val="65000"/>
                    <a:lumOff val="35000"/>
                  </a:schemeClr>
                </a:solidFill>
                <a:latin typeface="Tomorrow" pitchFamily="34" charset="0"/>
              </a:rPr>
              <a:t>sales highest  </a:t>
            </a:r>
            <a:endParaRPr lang="en-US" sz="1600" dirty="0" smtClean="0">
              <a:solidFill>
                <a:schemeClr val="tx1">
                  <a:lumMod val="65000"/>
                  <a:lumOff val="35000"/>
                </a:schemeClr>
              </a:solidFill>
              <a:latin typeface="Tomorrow" pitchFamily="34" charset="0"/>
            </a:endParaRP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Afternoon </a:t>
            </a:r>
            <a:r>
              <a:rPr lang="en-US" sz="1600" dirty="0">
                <a:solidFill>
                  <a:schemeClr val="tx1">
                    <a:lumMod val="65000"/>
                    <a:lumOff val="35000"/>
                  </a:schemeClr>
                </a:solidFill>
                <a:latin typeface="Tomorrow" pitchFamily="34" charset="0"/>
              </a:rPr>
              <a:t>moderate  </a:t>
            </a: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Morning </a:t>
            </a:r>
            <a:r>
              <a:rPr lang="en-US" sz="1600" dirty="0">
                <a:solidFill>
                  <a:schemeClr val="tx1">
                    <a:lumMod val="65000"/>
                    <a:lumOff val="35000"/>
                  </a:schemeClr>
                </a:solidFill>
                <a:latin typeface="Tomorrow" pitchFamily="34" charset="0"/>
              </a:rPr>
              <a:t>sales </a:t>
            </a:r>
            <a:r>
              <a:rPr lang="en-US" sz="1600" dirty="0" smtClean="0">
                <a:solidFill>
                  <a:schemeClr val="tx1">
                    <a:lumMod val="65000"/>
                    <a:lumOff val="35000"/>
                  </a:schemeClr>
                </a:solidFill>
                <a:latin typeface="Tomorrow" pitchFamily="34" charset="0"/>
              </a:rPr>
              <a:t>lowest</a:t>
            </a:r>
          </a:p>
          <a:p>
            <a:pPr lvl="1">
              <a:buFont typeface="Wingdings" panose="05000000000000000000" pitchFamily="2" charset="2"/>
              <a:buChar char="v"/>
            </a:pPr>
            <a:r>
              <a:rPr lang="en-US" sz="1600" dirty="0" smtClean="0">
                <a:solidFill>
                  <a:schemeClr val="tx1">
                    <a:lumMod val="65000"/>
                    <a:lumOff val="35000"/>
                  </a:schemeClr>
                </a:solidFill>
                <a:latin typeface="Tomorrow" pitchFamily="34" charset="0"/>
              </a:rPr>
              <a:t>Most customers likely shop after work hours</a:t>
            </a:r>
          </a:p>
          <a:p>
            <a:pPr>
              <a:buFont typeface="Wingdings" panose="05000000000000000000" pitchFamily="2" charset="2"/>
              <a:buChar char="v"/>
            </a:pPr>
            <a:endParaRPr lang="en-US" dirty="0" smtClean="0"/>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colorTemperature colorTemp="6320"/>
                    </a14:imgEffect>
                    <a14:imgEffect>
                      <a14:saturation sat="66000"/>
                    </a14:imgEffect>
                  </a14:imgLayer>
                </a14:imgProps>
              </a:ext>
              <a:ext uri="{28A0092B-C50C-407E-A947-70E740481C1C}">
                <a14:useLocalDpi xmlns:a14="http://schemas.microsoft.com/office/drawing/2010/main" val="0"/>
              </a:ext>
            </a:extLst>
          </a:blip>
          <a:stretch>
            <a:fillRect/>
          </a:stretch>
        </p:blipFill>
        <p:spPr>
          <a:xfrm>
            <a:off x="7338348" y="0"/>
            <a:ext cx="4853651" cy="6858000"/>
          </a:xfrm>
          <a:prstGeom prst="rect">
            <a:avLst/>
          </a:prstGeom>
          <a:effectLst>
            <a:softEdge rad="63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1000"/>
                                        <p:tgtEl>
                                          <p:spTgt spid="3">
                                            <p:txEl>
                                              <p:pRg st="2" end="2"/>
                                            </p:txEl>
                                          </p:spTgt>
                                        </p:tgtEl>
                                      </p:cBhvr>
                                    </p:animEffect>
                                    <p:anim calcmode="lin" valueType="num">
                                      <p:cBhvr>
                                        <p:cTn id="2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1000"/>
                                        <p:tgtEl>
                                          <p:spTgt spid="3">
                                            <p:txEl>
                                              <p:pRg st="7" end="7"/>
                                            </p:txEl>
                                          </p:spTgt>
                                        </p:tgtEl>
                                      </p:cBhvr>
                                    </p:animEffect>
                                    <p:anim calcmode="lin" valueType="num">
                                      <p:cBhvr>
                                        <p:cTn id="4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10" end="10"/>
                                            </p:txEl>
                                          </p:spTgt>
                                        </p:tgtEl>
                                        <p:attrNameLst>
                                          <p:attrName>style.visibility</p:attrName>
                                        </p:attrNameLst>
                                      </p:cBhvr>
                                      <p:to>
                                        <p:strVal val="visible"/>
                                      </p:to>
                                    </p:set>
                                    <p:animEffect transition="in" filter="fade">
                                      <p:cBhvr>
                                        <p:cTn id="56" dur="1000"/>
                                        <p:tgtEl>
                                          <p:spTgt spid="3">
                                            <p:txEl>
                                              <p:pRg st="10" end="10"/>
                                            </p:txEl>
                                          </p:spTgt>
                                        </p:tgtEl>
                                      </p:cBhvr>
                                    </p:animEffect>
                                    <p:anim calcmode="lin" valueType="num">
                                      <p:cBhvr>
                                        <p:cTn id="57"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Effect transition="in" filter="fade">
                                      <p:cBhvr>
                                        <p:cTn id="61" dur="1000"/>
                                        <p:tgtEl>
                                          <p:spTgt spid="3">
                                            <p:txEl>
                                              <p:pRg st="11" end="11"/>
                                            </p:txEl>
                                          </p:spTgt>
                                        </p:tgtEl>
                                      </p:cBhvr>
                                    </p:animEffect>
                                    <p:anim calcmode="lin" valueType="num">
                                      <p:cBhvr>
                                        <p:cTn id="62"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3">
                                            <p:txEl>
                                              <p:pRg st="12" end="12"/>
                                            </p:txEl>
                                          </p:spTgt>
                                        </p:tgtEl>
                                        <p:attrNameLst>
                                          <p:attrName>style.visibility</p:attrName>
                                        </p:attrNameLst>
                                      </p:cBhvr>
                                      <p:to>
                                        <p:strVal val="visible"/>
                                      </p:to>
                                    </p:set>
                                    <p:animEffect transition="in" filter="fade">
                                      <p:cBhvr>
                                        <p:cTn id="66" dur="1000"/>
                                        <p:tgtEl>
                                          <p:spTgt spid="3">
                                            <p:txEl>
                                              <p:pRg st="12" end="12"/>
                                            </p:txEl>
                                          </p:spTgt>
                                        </p:tgtEl>
                                      </p:cBhvr>
                                    </p:animEffect>
                                    <p:anim calcmode="lin" valueType="num">
                                      <p:cBhvr>
                                        <p:cTn id="67"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3">
                                            <p:txEl>
                                              <p:pRg st="13" end="13"/>
                                            </p:txEl>
                                          </p:spTgt>
                                        </p:tgtEl>
                                        <p:attrNameLst>
                                          <p:attrName>style.visibility</p:attrName>
                                        </p:attrNameLst>
                                      </p:cBhvr>
                                      <p:to>
                                        <p:strVal val="visible"/>
                                      </p:to>
                                    </p:set>
                                    <p:animEffect transition="in" filter="fade">
                                      <p:cBhvr>
                                        <p:cTn id="71" dur="1000"/>
                                        <p:tgtEl>
                                          <p:spTgt spid="3">
                                            <p:txEl>
                                              <p:pRg st="13" end="13"/>
                                            </p:txEl>
                                          </p:spTgt>
                                        </p:tgtEl>
                                      </p:cBhvr>
                                    </p:animEffect>
                                    <p:anim calcmode="lin" valueType="num">
                                      <p:cBhvr>
                                        <p:cTn id="72"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73"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3">
                                            <p:txEl>
                                              <p:pRg st="14" end="14"/>
                                            </p:txEl>
                                          </p:spTgt>
                                        </p:tgtEl>
                                        <p:attrNameLst>
                                          <p:attrName>style.visibility</p:attrName>
                                        </p:attrNameLst>
                                      </p:cBhvr>
                                      <p:to>
                                        <p:strVal val="visible"/>
                                      </p:to>
                                    </p:set>
                                    <p:animEffect transition="in" filter="fade">
                                      <p:cBhvr>
                                        <p:cTn id="76" dur="1000"/>
                                        <p:tgtEl>
                                          <p:spTgt spid="3">
                                            <p:txEl>
                                              <p:pRg st="14" end="14"/>
                                            </p:txEl>
                                          </p:spTgt>
                                        </p:tgtEl>
                                      </p:cBhvr>
                                    </p:animEffect>
                                    <p:anim calcmode="lin" valueType="num">
                                      <p:cBhvr>
                                        <p:cTn id="77"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78"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825181" cy="711507"/>
          </a:xfrm>
          <a:noFill/>
        </p:spPr>
        <p:txBody>
          <a:bodyPr/>
          <a:lstStyle/>
          <a:p>
            <a:r>
              <a:rPr lang="en-US" b="1" dirty="0" smtClean="0"/>
              <a:t>Recommendations</a:t>
            </a:r>
            <a:endParaRPr lang="en-US" b="1" dirty="0"/>
          </a:p>
        </p:txBody>
      </p:sp>
      <p:sp>
        <p:nvSpPr>
          <p:cNvPr id="3" name="Content Placeholder 2"/>
          <p:cNvSpPr>
            <a:spLocks noGrp="1"/>
          </p:cNvSpPr>
          <p:nvPr>
            <p:ph idx="1"/>
          </p:nvPr>
        </p:nvSpPr>
        <p:spPr>
          <a:xfrm>
            <a:off x="838200" y="980743"/>
            <a:ext cx="6673770" cy="5654233"/>
          </a:xfrm>
          <a:noFill/>
        </p:spPr>
        <p:txBody>
          <a:bodyPr>
            <a:normAutofit fontScale="85000" lnSpcReduction="10000"/>
          </a:bodyPr>
          <a:lstStyle/>
          <a:p>
            <a:pPr>
              <a:lnSpc>
                <a:spcPct val="150000"/>
              </a:lnSpc>
            </a:pPr>
            <a:r>
              <a:rPr lang="en-US" sz="2000" dirty="0">
                <a:solidFill>
                  <a:schemeClr val="tx1">
                    <a:lumMod val="65000"/>
                    <a:lumOff val="35000"/>
                  </a:schemeClr>
                </a:solidFill>
                <a:latin typeface="Tomorrow"/>
              </a:rPr>
              <a:t>Offer loyalty perks to gold </a:t>
            </a:r>
            <a:r>
              <a:rPr lang="en-US" sz="2000" dirty="0" smtClean="0">
                <a:solidFill>
                  <a:schemeClr val="tx1">
                    <a:lumMod val="65000"/>
                    <a:lumOff val="35000"/>
                  </a:schemeClr>
                </a:solidFill>
                <a:latin typeface="Tomorrow"/>
              </a:rPr>
              <a:t>members, </a:t>
            </a:r>
            <a:r>
              <a:rPr lang="en-US" sz="2000" dirty="0">
                <a:solidFill>
                  <a:schemeClr val="tx1">
                    <a:lumMod val="65000"/>
                    <a:lumOff val="35000"/>
                  </a:schemeClr>
                </a:solidFill>
                <a:latin typeface="Tomorrow"/>
              </a:rPr>
              <a:t>e.g</a:t>
            </a:r>
            <a:r>
              <a:rPr lang="en-US" sz="2000" dirty="0" smtClean="0">
                <a:solidFill>
                  <a:schemeClr val="tx1">
                    <a:lumMod val="65000"/>
                    <a:lumOff val="35000"/>
                  </a:schemeClr>
                </a:solidFill>
                <a:latin typeface="Tomorrow"/>
              </a:rPr>
              <a:t>., </a:t>
            </a:r>
            <a:r>
              <a:rPr lang="en-US" sz="2000" dirty="0">
                <a:solidFill>
                  <a:schemeClr val="tx1">
                    <a:lumMod val="65000"/>
                    <a:lumOff val="35000"/>
                  </a:schemeClr>
                </a:solidFill>
                <a:latin typeface="Tomorrow"/>
              </a:rPr>
              <a:t>priority </a:t>
            </a:r>
            <a:r>
              <a:rPr lang="en-US" sz="2000" dirty="0" smtClean="0">
                <a:solidFill>
                  <a:schemeClr val="tx1">
                    <a:lumMod val="65000"/>
                    <a:lumOff val="35000"/>
                  </a:schemeClr>
                </a:solidFill>
                <a:latin typeface="Tomorrow"/>
              </a:rPr>
              <a:t>delivery, gifts</a:t>
            </a:r>
          </a:p>
          <a:p>
            <a:pPr>
              <a:lnSpc>
                <a:spcPct val="150000"/>
              </a:lnSpc>
            </a:pPr>
            <a:r>
              <a:rPr lang="en-US" sz="2000" dirty="0" smtClean="0">
                <a:solidFill>
                  <a:schemeClr val="tx1">
                    <a:lumMod val="65000"/>
                    <a:lumOff val="35000"/>
                  </a:schemeClr>
                </a:solidFill>
                <a:latin typeface="Tomorrow"/>
              </a:rPr>
              <a:t>Focus stock </a:t>
            </a:r>
            <a:r>
              <a:rPr lang="en-US" sz="2000" dirty="0">
                <a:solidFill>
                  <a:schemeClr val="tx1">
                    <a:lumMod val="65000"/>
                    <a:lumOff val="35000"/>
                  </a:schemeClr>
                </a:solidFill>
                <a:latin typeface="Tomorrow"/>
              </a:rPr>
              <a:t>and </a:t>
            </a:r>
            <a:r>
              <a:rPr lang="en-US" sz="2000" dirty="0" smtClean="0">
                <a:solidFill>
                  <a:schemeClr val="tx1">
                    <a:lumMod val="65000"/>
                    <a:lumOff val="35000"/>
                  </a:schemeClr>
                </a:solidFill>
                <a:latin typeface="Tomorrow"/>
              </a:rPr>
              <a:t>advertisements on </a:t>
            </a:r>
            <a:r>
              <a:rPr lang="en-US" sz="2000" dirty="0">
                <a:solidFill>
                  <a:schemeClr val="tx1">
                    <a:lumMod val="65000"/>
                    <a:lumOff val="35000"/>
                  </a:schemeClr>
                </a:solidFill>
                <a:latin typeface="Tomorrow"/>
              </a:rPr>
              <a:t>perfume and chocolates during </a:t>
            </a:r>
            <a:r>
              <a:rPr lang="en-US" sz="2000" dirty="0" smtClean="0">
                <a:solidFill>
                  <a:schemeClr val="tx1">
                    <a:lumMod val="65000"/>
                    <a:lumOff val="35000"/>
                  </a:schemeClr>
                </a:solidFill>
                <a:latin typeface="Tomorrow"/>
              </a:rPr>
              <a:t>Valentine’s </a:t>
            </a:r>
            <a:r>
              <a:rPr lang="en-US" sz="2000" dirty="0">
                <a:solidFill>
                  <a:schemeClr val="tx1">
                    <a:lumMod val="65000"/>
                    <a:lumOff val="35000"/>
                  </a:schemeClr>
                </a:solidFill>
                <a:latin typeface="Tomorrow"/>
              </a:rPr>
              <a:t>season  </a:t>
            </a:r>
            <a:endParaRPr lang="en-US" sz="2000" dirty="0" smtClean="0">
              <a:solidFill>
                <a:schemeClr val="tx1">
                  <a:lumMod val="65000"/>
                  <a:lumOff val="35000"/>
                </a:schemeClr>
              </a:solidFill>
              <a:latin typeface="Tomorrow"/>
            </a:endParaRPr>
          </a:p>
          <a:p>
            <a:pPr>
              <a:lnSpc>
                <a:spcPct val="150000"/>
              </a:lnSpc>
            </a:pPr>
            <a:r>
              <a:rPr lang="en-US" sz="2000" dirty="0" smtClean="0">
                <a:solidFill>
                  <a:schemeClr val="tx1">
                    <a:lumMod val="65000"/>
                    <a:lumOff val="35000"/>
                  </a:schemeClr>
                </a:solidFill>
                <a:latin typeface="Tomorrow"/>
              </a:rPr>
              <a:t>Improve </a:t>
            </a:r>
            <a:r>
              <a:rPr lang="en-US" sz="2000" dirty="0">
                <a:solidFill>
                  <a:schemeClr val="tx1">
                    <a:lumMod val="65000"/>
                    <a:lumOff val="35000"/>
                  </a:schemeClr>
                </a:solidFill>
                <a:latin typeface="Tomorrow"/>
              </a:rPr>
              <a:t>rural sales with delivery offers and </a:t>
            </a:r>
            <a:r>
              <a:rPr lang="en-US" sz="2000" dirty="0" smtClean="0">
                <a:solidFill>
                  <a:schemeClr val="tx1">
                    <a:lumMod val="65000"/>
                    <a:lumOff val="35000"/>
                  </a:schemeClr>
                </a:solidFill>
                <a:latin typeface="Tomorrow"/>
              </a:rPr>
              <a:t>advertisements </a:t>
            </a:r>
            <a:endParaRPr lang="en-US" sz="2000" dirty="0">
              <a:solidFill>
                <a:schemeClr val="tx1">
                  <a:lumMod val="65000"/>
                  <a:lumOff val="35000"/>
                </a:schemeClr>
              </a:solidFill>
              <a:latin typeface="Tomorrow"/>
            </a:endParaRPr>
          </a:p>
          <a:p>
            <a:pPr>
              <a:lnSpc>
                <a:spcPct val="150000"/>
              </a:lnSpc>
            </a:pPr>
            <a:r>
              <a:rPr lang="en-US" sz="2000" dirty="0" smtClean="0">
                <a:solidFill>
                  <a:schemeClr val="tx1">
                    <a:lumMod val="65000"/>
                    <a:lumOff val="35000"/>
                  </a:schemeClr>
                </a:solidFill>
                <a:latin typeface="Tomorrow"/>
              </a:rPr>
              <a:t>Run </a:t>
            </a:r>
            <a:r>
              <a:rPr lang="en-US" sz="2000" dirty="0">
                <a:solidFill>
                  <a:schemeClr val="tx1">
                    <a:lumMod val="65000"/>
                    <a:lumOff val="35000"/>
                  </a:schemeClr>
                </a:solidFill>
                <a:latin typeface="Tomorrow"/>
              </a:rPr>
              <a:t>evening flash </a:t>
            </a:r>
            <a:r>
              <a:rPr lang="en-US" sz="2000" dirty="0" smtClean="0">
                <a:solidFill>
                  <a:schemeClr val="tx1">
                    <a:lumMod val="65000"/>
                    <a:lumOff val="35000"/>
                  </a:schemeClr>
                </a:solidFill>
                <a:latin typeface="Tomorrow"/>
              </a:rPr>
              <a:t>sales or promotions </a:t>
            </a:r>
            <a:r>
              <a:rPr lang="en-US" sz="2000" dirty="0">
                <a:solidFill>
                  <a:schemeClr val="tx1">
                    <a:lumMod val="65000"/>
                    <a:lumOff val="35000"/>
                  </a:schemeClr>
                </a:solidFill>
                <a:latin typeface="Tomorrow"/>
              </a:rPr>
              <a:t>to boost peak </a:t>
            </a:r>
            <a:r>
              <a:rPr lang="en-US" sz="2000" dirty="0" smtClean="0">
                <a:solidFill>
                  <a:schemeClr val="tx1">
                    <a:lumMod val="65000"/>
                    <a:lumOff val="35000"/>
                  </a:schemeClr>
                </a:solidFill>
                <a:latin typeface="Tomorrow"/>
              </a:rPr>
              <a:t>sales time </a:t>
            </a:r>
            <a:endParaRPr lang="en-US" sz="2000" dirty="0">
              <a:solidFill>
                <a:schemeClr val="tx1">
                  <a:lumMod val="65000"/>
                  <a:lumOff val="35000"/>
                </a:schemeClr>
              </a:solidFill>
              <a:latin typeface="Tomorrow"/>
            </a:endParaRPr>
          </a:p>
          <a:p>
            <a:pPr>
              <a:lnSpc>
                <a:spcPct val="150000"/>
              </a:lnSpc>
            </a:pPr>
            <a:r>
              <a:rPr lang="en-US" sz="2000" dirty="0" smtClean="0">
                <a:solidFill>
                  <a:schemeClr val="tx1">
                    <a:lumMod val="65000"/>
                    <a:lumOff val="35000"/>
                  </a:schemeClr>
                </a:solidFill>
                <a:latin typeface="Tomorrow"/>
              </a:rPr>
              <a:t>Encourage </a:t>
            </a:r>
            <a:r>
              <a:rPr lang="en-US" sz="2000" dirty="0">
                <a:solidFill>
                  <a:schemeClr val="tx1">
                    <a:lumMod val="65000"/>
                    <a:lumOff val="35000"/>
                  </a:schemeClr>
                </a:solidFill>
                <a:latin typeface="Tomorrow"/>
              </a:rPr>
              <a:t>digital payments with </a:t>
            </a:r>
            <a:r>
              <a:rPr lang="en-US" sz="2000" dirty="0" smtClean="0">
                <a:solidFill>
                  <a:schemeClr val="tx1">
                    <a:lumMod val="65000"/>
                    <a:lumOff val="35000"/>
                  </a:schemeClr>
                </a:solidFill>
                <a:latin typeface="Tomorrow"/>
              </a:rPr>
              <a:t>incentives like discounts</a:t>
            </a:r>
          </a:p>
          <a:p>
            <a:pPr>
              <a:lnSpc>
                <a:spcPct val="150000"/>
              </a:lnSpc>
            </a:pPr>
            <a:r>
              <a:rPr lang="en-US" sz="2000" dirty="0">
                <a:solidFill>
                  <a:schemeClr val="tx1">
                    <a:lumMod val="65000"/>
                    <a:lumOff val="35000"/>
                  </a:schemeClr>
                </a:solidFill>
                <a:latin typeface="Tomorrow"/>
              </a:rPr>
              <a:t>Improve digital payment </a:t>
            </a:r>
            <a:r>
              <a:rPr lang="en-US" sz="2000" dirty="0" smtClean="0">
                <a:solidFill>
                  <a:schemeClr val="tx1">
                    <a:lumMod val="65000"/>
                    <a:lumOff val="35000"/>
                  </a:schemeClr>
                </a:solidFill>
                <a:latin typeface="Tomorrow"/>
              </a:rPr>
              <a:t>speed</a:t>
            </a:r>
          </a:p>
          <a:p>
            <a:pPr>
              <a:lnSpc>
                <a:spcPct val="150000"/>
              </a:lnSpc>
            </a:pPr>
            <a:r>
              <a:rPr lang="en-US" sz="2000" dirty="0" smtClean="0">
                <a:solidFill>
                  <a:schemeClr val="tx1">
                    <a:lumMod val="65000"/>
                    <a:lumOff val="35000"/>
                  </a:schemeClr>
                </a:solidFill>
                <a:latin typeface="Tomorrow"/>
              </a:rPr>
              <a:t>Encourage contactless checkout</a:t>
            </a:r>
          </a:p>
          <a:p>
            <a:pPr>
              <a:lnSpc>
                <a:spcPct val="150000"/>
              </a:lnSpc>
            </a:pPr>
            <a:r>
              <a:rPr lang="en-US" sz="2000" dirty="0">
                <a:solidFill>
                  <a:schemeClr val="tx1">
                    <a:lumMod val="65000"/>
                    <a:lumOff val="35000"/>
                  </a:schemeClr>
                </a:solidFill>
                <a:latin typeface="Tomorrow"/>
              </a:rPr>
              <a:t>Introduce bundles like </a:t>
            </a:r>
            <a:r>
              <a:rPr lang="en-US" sz="2000" dirty="0" smtClean="0">
                <a:solidFill>
                  <a:schemeClr val="tx1">
                    <a:lumMod val="65000"/>
                    <a:lumOff val="35000"/>
                  </a:schemeClr>
                </a:solidFill>
                <a:latin typeface="Tomorrow"/>
              </a:rPr>
              <a:t>Teddy </a:t>
            </a:r>
            <a:r>
              <a:rPr lang="en-US" sz="2000" dirty="0">
                <a:solidFill>
                  <a:schemeClr val="tx1">
                    <a:lumMod val="65000"/>
                    <a:lumOff val="35000"/>
                  </a:schemeClr>
                </a:solidFill>
                <a:latin typeface="Tomorrow"/>
              </a:rPr>
              <a:t>B</a:t>
            </a:r>
            <a:r>
              <a:rPr lang="en-US" sz="2000" dirty="0" smtClean="0">
                <a:solidFill>
                  <a:schemeClr val="tx1">
                    <a:lumMod val="65000"/>
                    <a:lumOff val="35000"/>
                  </a:schemeClr>
                </a:solidFill>
                <a:latin typeface="Tomorrow"/>
              </a:rPr>
              <a:t>ear &amp; Chocolate combo, Rose &amp; Chocolate </a:t>
            </a:r>
            <a:r>
              <a:rPr lang="en-US" sz="2000" dirty="0">
                <a:solidFill>
                  <a:schemeClr val="tx1">
                    <a:lumMod val="65000"/>
                    <a:lumOff val="35000"/>
                  </a:schemeClr>
                </a:solidFill>
                <a:latin typeface="Tomorrow"/>
              </a:rPr>
              <a:t>combo</a:t>
            </a:r>
            <a:r>
              <a:rPr lang="en-US" sz="2000" dirty="0">
                <a:solidFill>
                  <a:schemeClr val="tx1">
                    <a:lumMod val="65000"/>
                    <a:lumOff val="35000"/>
                  </a:schemeClr>
                </a:solidFill>
              </a:rPr>
              <a:t>.</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colorTemperature colorTemp="4942"/>
                    </a14:imgEffect>
                    <a14:imgEffect>
                      <a14:saturation sat="66000"/>
                    </a14:imgEffect>
                  </a14:imgLayer>
                </a14:imgProps>
              </a:ext>
              <a:ext uri="{28A0092B-C50C-407E-A947-70E740481C1C}">
                <a14:useLocalDpi xmlns:a14="http://schemas.microsoft.com/office/drawing/2010/main" val="0"/>
              </a:ext>
            </a:extLst>
          </a:blip>
          <a:stretch>
            <a:fillRect/>
          </a:stretch>
        </p:blipFill>
        <p:spPr>
          <a:xfrm>
            <a:off x="7627434" y="0"/>
            <a:ext cx="4564566" cy="6858000"/>
          </a:xfrm>
          <a:prstGeom prst="rect">
            <a:avLst/>
          </a:prstGeom>
          <a:effectLst>
            <a:softEdge rad="63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animEffect transition="in" filter="fade">
                                      <p:cBhvr>
                                        <p:cTn id="54" dur="1000"/>
                                        <p:tgtEl>
                                          <p:spTgt spid="3">
                                            <p:txEl>
                                              <p:pRg st="6" end="6"/>
                                            </p:txEl>
                                          </p:spTgt>
                                        </p:tgtEl>
                                      </p:cBhvr>
                                    </p:animEffect>
                                    <p:anim calcmode="lin" valueType="num">
                                      <p:cBhvr>
                                        <p:cTn id="5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animEffect transition="in" filter="fade">
                                      <p:cBhvr>
                                        <p:cTn id="61" dur="1000"/>
                                        <p:tgtEl>
                                          <p:spTgt spid="3">
                                            <p:txEl>
                                              <p:pRg st="7" end="7"/>
                                            </p:txEl>
                                          </p:spTgt>
                                        </p:tgtEl>
                                      </p:cBhvr>
                                    </p:animEffect>
                                    <p:anim calcmode="lin" valueType="num">
                                      <p:cBhvr>
                                        <p:cTn id="6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1025</Words>
  <Application>Microsoft Office PowerPoint</Application>
  <PresentationFormat>Widescreen</PresentationFormat>
  <Paragraphs>129</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Calibri Light</vt:lpstr>
      <vt:lpstr>Consolas</vt:lpstr>
      <vt:lpstr>Tomorrow</vt:lpstr>
      <vt:lpstr>Tomorrow Light</vt:lpstr>
      <vt:lpstr>Tomorrow Semi Bold</vt:lpstr>
      <vt:lpstr>Wingdings</vt:lpstr>
      <vt:lpstr>Office Theme</vt:lpstr>
      <vt:lpstr>Data Science &amp; Analytics Project 2025</vt:lpstr>
      <vt:lpstr>Presentation Roadmap</vt:lpstr>
      <vt:lpstr>Project Overview </vt:lpstr>
      <vt:lpstr>Problem Statement</vt:lpstr>
      <vt:lpstr>Dataset Overview Comprehensive Valentine's Day Transaction Data </vt:lpstr>
      <vt:lpstr>Analytical Toolkit</vt:lpstr>
      <vt:lpstr>Data Cleaning &amp; Preprocessing</vt:lpstr>
      <vt:lpstr>Data Quality Issues Identified</vt:lpstr>
      <vt:lpstr>Data Cleaning Solutions</vt:lpstr>
      <vt:lpstr>Limitations</vt:lpstr>
      <vt:lpstr>Valentine’s Dataset Dashboard</vt:lpstr>
      <vt:lpstr>Analysis and Insights</vt:lpstr>
      <vt:lpstr>Analysis and Insights contd.</vt:lpstr>
      <vt:lpstr>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joycelynobengadjei@gmail.com</dc:creator>
  <cp:lastModifiedBy>GEORGE</cp:lastModifiedBy>
  <cp:revision>97</cp:revision>
  <dcterms:created xsi:type="dcterms:W3CDTF">2025-11-24T16:04:00Z</dcterms:created>
  <dcterms:modified xsi:type="dcterms:W3CDTF">2026-10-21T12:06:33Z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5C3AE906DD28479A9F31E935DEE84699_12</vt:lpwstr>
  </property>
</Properties>
</file>